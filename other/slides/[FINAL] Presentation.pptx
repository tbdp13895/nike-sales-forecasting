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3"/>
  </p:notesMasterIdLst>
  <p:sldIdLst>
    <p:sldId id="256" r:id="rId2"/>
    <p:sldId id="258" r:id="rId3"/>
    <p:sldId id="260" r:id="rId4"/>
    <p:sldId id="309" r:id="rId5"/>
    <p:sldId id="257" r:id="rId6"/>
    <p:sldId id="330" r:id="rId7"/>
    <p:sldId id="308" r:id="rId8"/>
    <p:sldId id="329" r:id="rId9"/>
    <p:sldId id="310" r:id="rId10"/>
    <p:sldId id="312" r:id="rId11"/>
    <p:sldId id="331" r:id="rId12"/>
    <p:sldId id="336" r:id="rId13"/>
    <p:sldId id="332" r:id="rId14"/>
    <p:sldId id="333" r:id="rId15"/>
    <p:sldId id="334" r:id="rId16"/>
    <p:sldId id="348" r:id="rId17"/>
    <p:sldId id="349" r:id="rId18"/>
    <p:sldId id="350" r:id="rId19"/>
    <p:sldId id="351" r:id="rId20"/>
    <p:sldId id="352" r:id="rId21"/>
    <p:sldId id="353" r:id="rId22"/>
    <p:sldId id="337" r:id="rId23"/>
    <p:sldId id="338" r:id="rId24"/>
    <p:sldId id="341" r:id="rId25"/>
    <p:sldId id="343" r:id="rId26"/>
    <p:sldId id="344" r:id="rId27"/>
    <p:sldId id="345" r:id="rId28"/>
    <p:sldId id="346" r:id="rId29"/>
    <p:sldId id="355" r:id="rId30"/>
    <p:sldId id="354" r:id="rId31"/>
    <p:sldId id="267" r:id="rId32"/>
  </p:sldIdLst>
  <p:sldSz cx="9144000" cy="5143500" type="screen16x9"/>
  <p:notesSz cx="6858000" cy="9144000"/>
  <p:embeddedFontLst>
    <p:embeddedFont>
      <p:font typeface="Montserrat ExtraBold" panose="00000900000000000000" pitchFamily="2" charset="0"/>
      <p:bold r:id="rId34"/>
      <p:boldItalic r:id="rId35"/>
    </p:embeddedFont>
    <p:embeddedFont>
      <p:font typeface="Nanum Gothic" panose="020B0604020202020204" charset="0"/>
      <p:regular r:id="rId36"/>
      <p:bold r:id="rId37"/>
    </p:embeddedFont>
    <p:embeddedFont>
      <p:font typeface="Open Sans" panose="020B0606030504020204" pitchFamily="34" charset="0"/>
      <p:regular r:id="rId38"/>
      <p:bold r:id="rId39"/>
      <p:italic r:id="rId40"/>
      <p:boldItalic r:id="rId41"/>
    </p:embeddedFont>
    <p:embeddedFont>
      <p:font typeface="Poppins ExtraBold" panose="00000900000000000000" pitchFamily="2" charset="0"/>
      <p:bold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71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7C879E-085A-4B75-A81E-502CE35A82C9}">
  <a:tblStyle styleId="{087C879E-085A-4B75-A81E-502CE35A82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121" autoAdjust="0"/>
  </p:normalViewPr>
  <p:slideViewPr>
    <p:cSldViewPr snapToGrid="0">
      <p:cViewPr varScale="1">
        <p:scale>
          <a:sx n="86" d="100"/>
          <a:sy n="86" d="100"/>
        </p:scale>
        <p:origin x="12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affaafa6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affaafa6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a7228db1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a7228db1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a7228db1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a7228db1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F95F1C6-D83A-9813-0E44-30DAA811C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AD75B9E9-27FB-8266-8456-9FF166080A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C849B774-A090-E398-46E6-7D3B87126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6098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BB3F586-6433-41D4-7155-27BC33BD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8023EFE9-BE20-59D0-EE4D-7ADA1CB23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4943B494-B9C0-2624-FDC4-F3CD41FA3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8803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14545D89-3227-F232-7F78-1D5DE086D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A21C9325-C966-205E-775D-5EFA490D26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7E6A2A3A-F529-2846-A10A-6217B9543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2671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59744396-E6F9-8161-C925-30DBF7D5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a7228db11_0_21:notes">
            <a:extLst>
              <a:ext uri="{FF2B5EF4-FFF2-40B4-BE49-F238E27FC236}">
                <a16:creationId xmlns:a16="http://schemas.microsoft.com/office/drawing/2014/main" id="{F093714F-6254-3576-64E4-13B019257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a7228db11_0_21:notes">
            <a:extLst>
              <a:ext uri="{FF2B5EF4-FFF2-40B4-BE49-F238E27FC236}">
                <a16:creationId xmlns:a16="http://schemas.microsoft.com/office/drawing/2014/main" id="{AB56628A-C8D8-FA5B-9715-2CC4BAB4A5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737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B5E3968-7950-65D6-AFE6-DE098245C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DA09EA5F-6070-531A-A906-9DB5ADD30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46B087E8-0DFB-2286-98EC-94C1001E27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Stable 2020</a:t>
            </a:r>
            <a:r>
              <a:rPr lang="en-US" dirty="0"/>
              <a:t>: Sales remained steady throughout 2020 but dropped sharply toward the end.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Growth in 2021</a:t>
            </a:r>
            <a:r>
              <a:rPr lang="en-US" dirty="0"/>
              <a:t>: Early 2021 shows a sharp rise in sales, likely due to successful campaigns or product launches.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Fluctuations</a:t>
            </a:r>
            <a:r>
              <a:rPr lang="en-US" dirty="0"/>
              <a:t>: Mid-2021 shows peaks and troughs, indicating seasonality or market shifts.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Strong Finish</a:t>
            </a:r>
            <a:r>
              <a:rPr lang="en-US" dirty="0"/>
              <a:t>: Late 2021 sees high, stable sales, suggesting improved customer retention or effective strategies.</a:t>
            </a:r>
          </a:p>
          <a:p>
            <a:pPr marL="158750" indent="0">
              <a:buFont typeface="+mj-lt"/>
              <a:buNone/>
            </a:pPr>
            <a:endParaRPr lang="en-US" dirty="0"/>
          </a:p>
          <a:p>
            <a:r>
              <a:rPr lang="en-US" b="1" dirty="0"/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Address Declines</a:t>
            </a:r>
            <a:r>
              <a:rPr lang="en-US" dirty="0"/>
              <a:t>: Investigate and mitigate the late-2020 dip with off-season strategies.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Leverage Growth</a:t>
            </a:r>
            <a:r>
              <a:rPr lang="en-US" dirty="0"/>
              <a:t>: Replicate early-2021 strategies for sustained momentum.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Plan for Fluctuations</a:t>
            </a:r>
            <a:r>
              <a:rPr lang="en-US" dirty="0"/>
              <a:t>: Schedule promotions during expected troughs.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Maximize High Sales</a:t>
            </a:r>
            <a:r>
              <a:rPr lang="en-US" dirty="0"/>
              <a:t>: Maintain late-2021 performance with loyalty programs and targeted campaigns.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Forecast &amp; Optimize</a:t>
            </a:r>
            <a:r>
              <a:rPr lang="en-US" dirty="0"/>
              <a:t>: Use trends to prepare resources for peak periods and improve low-demand phases.</a:t>
            </a:r>
          </a:p>
          <a:p>
            <a:pPr marL="158750" indent="0">
              <a:buFont typeface="+mj-lt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None/>
            </a:pPr>
            <a:endParaRPr b="0" i="0" dirty="0"/>
          </a:p>
        </p:txBody>
      </p:sp>
    </p:spTree>
    <p:extLst>
      <p:ext uri="{BB962C8B-B14F-4D97-AF65-F5344CB8AC3E}">
        <p14:creationId xmlns:p14="http://schemas.microsoft.com/office/powerpoint/2010/main" val="32942291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206895B-71DA-A3E2-3922-0B724B29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C3E802E0-B5CF-EEEB-3277-4F62191A96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F5B21705-2386-DFB2-CE0C-7FE968A7C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West Dominates</a:t>
            </a:r>
            <a:r>
              <a:rPr lang="en-US" dirty="0"/>
              <a:t>: Highest sales (2.32M) and units sold (61,832).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Northeast Strong</a:t>
            </a:r>
            <a:r>
              <a:rPr lang="en-US" dirty="0"/>
              <a:t>: Second-highest with 1.86M sales and 50,435 units sold.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Midwest Weak</a:t>
            </a:r>
            <a:r>
              <a:rPr lang="en-US" dirty="0"/>
              <a:t>: Lowest performance (1.36M sales, 39,405 units sold).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Efficiency Gap</a:t>
            </a:r>
            <a:r>
              <a:rPr lang="en-US" dirty="0"/>
              <a:t>: Southeast shows moderate units sold but lower revenue.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Focus on West</a:t>
            </a:r>
            <a:r>
              <a:rPr lang="en-US" dirty="0"/>
              <a:t>: Increase investment to sustain growth.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Revive Midwest</a:t>
            </a:r>
            <a:r>
              <a:rPr lang="en-US" dirty="0"/>
              <a:t>: Target promotions and research market gaps.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 Southeast Pricing</a:t>
            </a:r>
            <a:r>
              <a:rPr lang="en-US" dirty="0"/>
              <a:t>: Adjust pricing to boost revenue.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Expand Northeast Reach</a:t>
            </a:r>
            <a:r>
              <a:rPr lang="en-US" dirty="0"/>
              <a:t>: Strengthen inventory and campaigns.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Tailor by Region</a:t>
            </a:r>
            <a:r>
              <a:rPr lang="en-US" dirty="0"/>
              <a:t>: Use localized strategies for customer needs.</a:t>
            </a:r>
          </a:p>
          <a:p>
            <a:pPr marL="158750" indent="0">
              <a:buFont typeface="+mj-lt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F35BB99-0744-E66F-2AA4-B1BF67CD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CA612AE5-CF7B-F2B0-733F-92028E7A5C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1D4C3E78-959F-17B7-37B9-C47BEA40CC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Highest Sales</a:t>
            </a:r>
            <a:r>
              <a:rPr lang="en-US" dirty="0"/>
              <a:t>: In-store sales lead with the highest total sales ($3,566,650), despite having the lowest units sold (69,401). This suggests higher-priced items or higher-margin products.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Online</a:t>
            </a:r>
            <a:r>
              <a:rPr lang="en-US" dirty="0"/>
              <a:t>: Online has the highest units sold (92,877) but the lowest total sales ($2,467,614), indicating lower-priced products or competitive pricing.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Outlet</a:t>
            </a:r>
            <a:r>
              <a:rPr lang="en-US" dirty="0"/>
              <a:t>: Outlets perform in between for both metrics, balancing total sales ($2,595,011) and units sold (79,706).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In-Store</a:t>
            </a:r>
            <a:r>
              <a:rPr lang="en-US" dirty="0"/>
              <a:t>: Focus on high-margin product promotion while improving customer volume to sustain profitability.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Online</a:t>
            </a:r>
            <a:r>
              <a:rPr lang="en-US" dirty="0"/>
              <a:t>: Consider upselling or bundling to increase average order value.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For Outlets</a:t>
            </a:r>
            <a:r>
              <a:rPr lang="en-US" dirty="0"/>
              <a:t>: Assess product assortment to better optimize sales mix and pricing strategy.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4172179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55791AB-845D-E6EE-8F10-08D37780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10E89BDF-0A5D-2F77-7FF2-6EB21229F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94C21AC0-B0AD-D09C-92E1-E66713715F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597603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9E22183-04B7-1E0B-C428-364630E1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47D1AF25-C576-4817-77C2-A237DE058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9B5CC89C-1E75-8B53-B82D-BA8117F31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2792850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8324A3D-C48E-7956-1D5D-587633D8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A7E58112-4E14-89EC-BBE8-E7921EABFA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EF79E1AB-B764-6F09-4B3B-6A6CA5D40D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Top Product</a:t>
            </a:r>
            <a:r>
              <a:rPr lang="en-US" dirty="0"/>
              <a:t>: </a:t>
            </a:r>
            <a:r>
              <a:rPr lang="en-US" b="1" dirty="0"/>
              <a:t>Men's Street Footwear</a:t>
            </a:r>
            <a:r>
              <a:rPr lang="en-US" dirty="0"/>
              <a:t> leads with the highest sales ($1,999,192) and units sold (57,737), indicating strong demand.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Women's Categories</a:t>
            </a:r>
            <a:r>
              <a:rPr lang="en-US" dirty="0"/>
              <a:t>: </a:t>
            </a:r>
            <a:r>
              <a:rPr lang="en-US" b="1" dirty="0"/>
              <a:t>Women's Apparel</a:t>
            </a:r>
            <a:r>
              <a:rPr lang="en-US" dirty="0"/>
              <a:t> ($1,720,630) outperforms </a:t>
            </a:r>
            <a:r>
              <a:rPr lang="en-US" b="1" dirty="0"/>
              <a:t>Women's Athletic Footwear</a:t>
            </a:r>
            <a:r>
              <a:rPr lang="en-US" dirty="0"/>
              <a:t> in sales and units, suggesting a preference for casual items.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Low Performance</a:t>
            </a:r>
            <a:r>
              <a:rPr lang="en-US" dirty="0"/>
              <a:t>: </a:t>
            </a:r>
            <a:r>
              <a:rPr lang="en-US" b="1" dirty="0"/>
              <a:t>Men's Apparel</a:t>
            </a:r>
            <a:r>
              <a:rPr lang="en-US" dirty="0"/>
              <a:t> and </a:t>
            </a:r>
            <a:r>
              <a:rPr lang="en-US" b="1" dirty="0"/>
              <a:t>Women's Athletic Footwear</a:t>
            </a:r>
            <a:r>
              <a:rPr lang="en-US" dirty="0"/>
              <a:t> show the lowest sales and units sold.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Expand Popular Categories</a:t>
            </a:r>
            <a:r>
              <a:rPr lang="en-US" dirty="0"/>
              <a:t>: Increase inventory and promotions for Men's Street Footwear and Women's Apparel to capitalize on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Revamp Low Performers</a:t>
            </a:r>
            <a:r>
              <a:rPr lang="en-US" dirty="0"/>
              <a:t>: Reevaluate pricing, marketing, or product design for Men's Apparel and Women's Athletic Footwear to improve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Targeted Campaigns</a:t>
            </a:r>
            <a:r>
              <a:rPr lang="en-US" dirty="0"/>
              <a:t>: Use data-driven marketing to highlight the strengths of underperforming categories.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2740133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B22A6B9-792B-5E6A-85F2-A79C4879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93A55792-1C25-40E7-7D6B-3411765E7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E0A5CE08-43A0-69C9-DD4E-3F741FE40B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36114423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072C319C-7022-0986-1FAC-D47FEA44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a7228db11_0_21:notes">
            <a:extLst>
              <a:ext uri="{FF2B5EF4-FFF2-40B4-BE49-F238E27FC236}">
                <a16:creationId xmlns:a16="http://schemas.microsoft.com/office/drawing/2014/main" id="{6D9ACDE7-B0B2-A293-0F85-05DF2F308E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a7228db11_0_21:notes">
            <a:extLst>
              <a:ext uri="{FF2B5EF4-FFF2-40B4-BE49-F238E27FC236}">
                <a16:creationId xmlns:a16="http://schemas.microsoft.com/office/drawing/2014/main" id="{DA7A0C15-430A-AA48-D616-0706A6EF1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6010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FDBEC9B2-816B-560F-8836-A0B00A79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BE1F0F94-7924-29D4-10CA-7EFC5A0DF8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E85E08FB-085B-0045-345F-D9A004019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Top Products</a:t>
            </a:r>
            <a:r>
              <a:rPr lang="en-US" dirty="0"/>
              <a:t>: Men’s Street Footwear leads in total sales and units, followed by Women’s Apparel.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Sales Channels</a:t>
            </a:r>
            <a:r>
              <a:rPr lang="en-US" dirty="0"/>
              <a:t>: In-store sales dominate, but online and outlets are close in unit sales.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States</a:t>
            </a:r>
            <a:r>
              <a:rPr lang="en-US" dirty="0"/>
              <a:t>: California generates the highest sales, while Utah performs the lowest.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Trends</a:t>
            </a:r>
            <a:r>
              <a:rPr lang="en-US" dirty="0"/>
              <a:t>: Sales peaked sharply in late 2021, with a notable volatility pattern (there was a sharp increase from 2021-01, and reached the peak in 2021-10, followed by a dramatical decrease.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Focus Products</a:t>
            </a:r>
            <a:r>
              <a:rPr lang="en-US" dirty="0"/>
              <a:t>: Expand marketing for top-selling items (e.g., Men’s Footwear).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Channel Growth</a:t>
            </a:r>
            <a:r>
              <a:rPr lang="en-US" dirty="0"/>
              <a:t>: Enhance online presence to compete with in-store sales.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Geographic Strategy</a:t>
            </a:r>
            <a:r>
              <a:rPr lang="en-US" dirty="0"/>
              <a:t>: Boost sales efforts in weaker states like Utah and Arizona.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Sustain Peaks</a:t>
            </a:r>
            <a:r>
              <a:rPr lang="en-US" dirty="0"/>
              <a:t>: Investigate and replicate drivers of late-2021 growth.</a:t>
            </a:r>
          </a:p>
        </p:txBody>
      </p:sp>
    </p:spTree>
    <p:extLst>
      <p:ext uri="{BB962C8B-B14F-4D97-AF65-F5344CB8AC3E}">
        <p14:creationId xmlns:p14="http://schemas.microsoft.com/office/powerpoint/2010/main" val="475671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BC20FF1-A35A-2920-7EE0-ED96F49B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8ACEDBAA-5328-3287-C1E5-9344D13BD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063312B0-F947-177B-2CE6-1BC6F7FC9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Insights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Products</a:t>
            </a:r>
            <a:r>
              <a:rPr lang="en-US" dirty="0"/>
              <a:t>: Men’s Street Footwear leads sales, followed by Women’s Apparel.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Sales Channels</a:t>
            </a:r>
            <a:r>
              <a:rPr lang="en-US" dirty="0"/>
              <a:t>: In-store dominates, but outlets contribute significantly.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State</a:t>
            </a:r>
            <a:r>
              <a:rPr lang="en-US" dirty="0"/>
              <a:t>: New York generates the highest sales, while Maryland is the lowest.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Trends</a:t>
            </a:r>
            <a:r>
              <a:rPr lang="en-US" dirty="0"/>
              <a:t>: Sales peaked in late 2021, with fluctuations afterward.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</a:t>
            </a:r>
          </a:p>
          <a:p>
            <a:pPr>
              <a:buFont typeface="+mj-lt"/>
              <a:buAutoNum type="arabicPeriod"/>
            </a:pPr>
            <a:r>
              <a:rPr lang="en-US" dirty="0"/>
              <a:t>Focus on top products (e.g., Men’s Street Footwear) to drive growth.</a:t>
            </a:r>
          </a:p>
          <a:p>
            <a:pPr>
              <a:buFont typeface="+mj-lt"/>
              <a:buAutoNum type="arabicPeriod"/>
            </a:pPr>
            <a:r>
              <a:rPr lang="en-US" dirty="0"/>
              <a:t>Strengthen outlet sales and improve online presence to capture more market share.</a:t>
            </a:r>
          </a:p>
          <a:p>
            <a:pPr>
              <a:buFont typeface="+mj-lt"/>
              <a:buAutoNum type="arabicPeriod"/>
            </a:pPr>
            <a:r>
              <a:rPr lang="en-US" dirty="0"/>
              <a:t>Target low-performing states (e.g., Maryland, Rhode Island) with localized campaigns.</a:t>
            </a:r>
          </a:p>
          <a:p>
            <a:pPr>
              <a:buFont typeface="+mj-lt"/>
              <a:buAutoNum type="arabicPeriod"/>
            </a:pPr>
            <a:r>
              <a:rPr lang="en-US" dirty="0"/>
              <a:t>Analyze peak periods to sustain and replicate success.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4057180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89475D6-E37D-EEE3-BA1C-1DA671405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90B3352C-71B1-0E28-4A1D-65C5A4BFF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EC29ACE3-53A6-4602-9D25-2AD7292C8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Key Insights: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Sales Trends</a:t>
            </a:r>
            <a:r>
              <a:rPr lang="en-US" dirty="0"/>
              <a:t>: Peak sales occurred in early 2021, followed by a significant decline towards late 2021.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Products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Men's Street Footwear</a:t>
            </a:r>
            <a:r>
              <a:rPr lang="en-US" dirty="0"/>
              <a:t> leads in sales (360,206 units).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Women's Apparel</a:t>
            </a:r>
            <a:r>
              <a:rPr lang="en-US" dirty="0"/>
              <a:t> follows closely (314,924 units).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Top States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Florida is the best-performing state (592,866 total sales).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South Carolina and North Carolina also contribute significantly.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Bottom States</a:t>
            </a:r>
            <a:r>
              <a:rPr lang="en-US" dirty="0"/>
              <a:t>: Kentucky and Georgia show the lowest sales, with opportunities for growth.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Sales Channels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Online</a:t>
            </a:r>
            <a:r>
              <a:rPr lang="en-US" dirty="0"/>
              <a:t> sales dominate (839,047 total sales).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In-store</a:t>
            </a:r>
            <a:r>
              <a:rPr lang="en-US" dirty="0"/>
              <a:t> follows (723,634 total sales), while outlets are underperforming.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  <a:p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Boost Declining Sales</a:t>
            </a:r>
            <a:r>
              <a:rPr lang="en-US" dirty="0"/>
              <a:t>: Investigate reasons for the sharp drop in late 2021 and adjust strategies (e.g., promotions or seasonality planning).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Focus on High Performers</a:t>
            </a:r>
            <a:r>
              <a:rPr lang="en-US" dirty="0"/>
              <a:t>: Invest in promoting top-performing products like </a:t>
            </a:r>
            <a:r>
              <a:rPr lang="en-US" b="1" dirty="0"/>
              <a:t>Men's Street Footwear</a:t>
            </a:r>
            <a:r>
              <a:rPr lang="en-US" dirty="0"/>
              <a:t> and target high-performing states like Florida to maximize returns.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Improve Underperforming States</a:t>
            </a:r>
            <a:r>
              <a:rPr lang="en-US" dirty="0"/>
              <a:t>: Explore marketing campaigns or partnerships in </a:t>
            </a:r>
            <a:r>
              <a:rPr lang="en-US" b="1" dirty="0"/>
              <a:t>Kentucky</a:t>
            </a:r>
            <a:r>
              <a:rPr lang="en-US" dirty="0"/>
              <a:t> and </a:t>
            </a:r>
            <a:r>
              <a:rPr lang="en-US" b="1" dirty="0"/>
              <a:t>Georgia</a:t>
            </a:r>
            <a:r>
              <a:rPr lang="en-US" dirty="0"/>
              <a:t> to boost sales in these regions.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Enhance Online Presence</a:t>
            </a:r>
            <a:r>
              <a:rPr lang="en-US" dirty="0"/>
              <a:t>: Since </a:t>
            </a:r>
            <a:r>
              <a:rPr lang="en-US" b="1" dirty="0"/>
              <a:t>online sales</a:t>
            </a:r>
            <a:r>
              <a:rPr lang="en-US" dirty="0"/>
              <a:t> lead significantly, continue to improve the online shopping experience with better offers, personalized recommendations, and faster delivery.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Evaluate Outlet Strategy</a:t>
            </a:r>
            <a:r>
              <a:rPr lang="en-US" dirty="0"/>
              <a:t>: Assess the low performance of outlets and consider restructuring or consolidating underperforming locations.</a:t>
            </a: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1239336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6EEDBF28-F044-4B12-776A-DE7F12B9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E85313A7-9568-9019-ED24-A4FBB56C18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104FB13B-AAC4-92D5-B8D3-834A7F27AD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Trends</a:t>
            </a:r>
            <a:r>
              <a:rPr lang="en-US" dirty="0"/>
              <a:t>: Gradual increase in sales, peaking in early 2021, with a stable upward trend afterward.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Products</a:t>
            </a:r>
            <a:r>
              <a:rPr lang="en-US" dirty="0"/>
              <a:t>: </a:t>
            </a:r>
            <a:r>
              <a:rPr lang="en-US" b="1" dirty="0"/>
              <a:t>Women's Apparel</a:t>
            </a:r>
            <a:r>
              <a:rPr lang="en-US" dirty="0"/>
              <a:t> leads in sales (296,081 units), followed by </a:t>
            </a:r>
            <a:r>
              <a:rPr lang="en-US" b="1" dirty="0"/>
              <a:t>Men's Street Footwear</a:t>
            </a:r>
            <a:r>
              <a:rPr lang="en-US" dirty="0"/>
              <a:t> (284,459 units).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States</a:t>
            </a:r>
            <a:r>
              <a:rPr lang="en-US" dirty="0"/>
              <a:t>: </a:t>
            </a:r>
            <a:r>
              <a:rPr lang="en-US" b="1" dirty="0"/>
              <a:t>Texas</a:t>
            </a:r>
            <a:r>
              <a:rPr lang="en-US" dirty="0"/>
              <a:t> dominates sales (463,613 total sales).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Louisiana and Tennessee follow as strong performers.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Bottom States</a:t>
            </a:r>
            <a:r>
              <a:rPr lang="en-US" dirty="0"/>
              <a:t>: </a:t>
            </a:r>
            <a:r>
              <a:rPr lang="en-US" b="1" dirty="0"/>
              <a:t>Utah</a:t>
            </a:r>
            <a:r>
              <a:rPr lang="en-US" dirty="0"/>
              <a:t> and </a:t>
            </a:r>
            <a:r>
              <a:rPr lang="en-US" b="1" dirty="0"/>
              <a:t>Arizona</a:t>
            </a:r>
            <a:r>
              <a:rPr lang="en-US" dirty="0"/>
              <a:t> underperform, with minimal sales and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Channels</a:t>
            </a:r>
            <a:r>
              <a:rPr lang="en-US" dirty="0"/>
              <a:t>: </a:t>
            </a:r>
            <a:r>
              <a:rPr lang="en-US" b="1" dirty="0"/>
              <a:t>Outlet</a:t>
            </a:r>
            <a:r>
              <a:rPr lang="en-US" dirty="0"/>
              <a:t> sales are highest (814,347 total sales), outperforming both </a:t>
            </a:r>
            <a:r>
              <a:rPr lang="en-US" b="1" dirty="0"/>
              <a:t>online</a:t>
            </a:r>
            <a:r>
              <a:rPr lang="en-US" dirty="0"/>
              <a:t> and </a:t>
            </a:r>
            <a:r>
              <a:rPr lang="en-US" b="1" dirty="0"/>
              <a:t>in-store</a:t>
            </a:r>
            <a:r>
              <a:rPr lang="en-US" dirty="0"/>
              <a:t> sales.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Capitalize on Top States</a:t>
            </a:r>
            <a:r>
              <a:rPr lang="en-US" dirty="0"/>
              <a:t>: Increase marketing and stock availability in </a:t>
            </a:r>
            <a:r>
              <a:rPr lang="en-US" b="1" dirty="0"/>
              <a:t>Texas</a:t>
            </a:r>
            <a:r>
              <a:rPr lang="en-US" dirty="0"/>
              <a:t> and </a:t>
            </a:r>
            <a:r>
              <a:rPr lang="en-US" b="1" dirty="0"/>
              <a:t>Louisiana</a:t>
            </a:r>
            <a:r>
              <a:rPr lang="en-US" dirty="0"/>
              <a:t> to maximize potential.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Revitalize Low-Performing States</a:t>
            </a:r>
            <a:r>
              <a:rPr lang="en-US" dirty="0"/>
              <a:t>: Run promotions or targeted campaigns in </a:t>
            </a:r>
            <a:r>
              <a:rPr lang="en-US" b="1" dirty="0"/>
              <a:t>Utah</a:t>
            </a:r>
            <a:r>
              <a:rPr lang="en-US" dirty="0"/>
              <a:t> and </a:t>
            </a:r>
            <a:r>
              <a:rPr lang="en-US" b="1" dirty="0"/>
              <a:t>Arizona</a:t>
            </a:r>
            <a:r>
              <a:rPr lang="en-US" dirty="0"/>
              <a:t> to improve visibility and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Leverage Outlet Success</a:t>
            </a:r>
            <a:r>
              <a:rPr lang="en-US" dirty="0"/>
              <a:t>: Expand the outlet network or introduce outlet-exclusive deals to sustain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Diversify Product Promotion</a:t>
            </a:r>
            <a:r>
              <a:rPr lang="en-US" dirty="0"/>
              <a:t>: Focus on boosting sales of lower-performing categories like </a:t>
            </a:r>
            <a:r>
              <a:rPr lang="en-US" b="1" dirty="0"/>
              <a:t>Men's Apparel</a:t>
            </a:r>
            <a:r>
              <a:rPr lang="en-US" dirty="0"/>
              <a:t> and </a:t>
            </a:r>
            <a:r>
              <a:rPr lang="en-US" b="1" dirty="0"/>
              <a:t>Women's Athletic Footwear</a:t>
            </a:r>
            <a:r>
              <a:rPr lang="en-US" dirty="0"/>
              <a:t> through tailored advertising.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23869589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C4EC1C-9701-3F4F-1561-639C48CF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551B3CB4-3845-98EC-3EE9-FFA933A95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984C1A1F-F34B-CB30-2F83-29A1D81919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Trends</a:t>
            </a:r>
            <a:r>
              <a:rPr lang="en-US" dirty="0"/>
              <a:t>: Steady growth with a peak in mid-2021, followed by a moderate decline but stable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Products</a:t>
            </a:r>
            <a:r>
              <a:rPr lang="en-US" dirty="0"/>
              <a:t>: </a:t>
            </a:r>
            <a:r>
              <a:rPr lang="en-US" b="1" dirty="0"/>
              <a:t>Men's Street Footwear</a:t>
            </a:r>
            <a:r>
              <a:rPr lang="en-US" dirty="0"/>
              <a:t> dominates (383,248 total sales), followed by </a:t>
            </a:r>
            <a:r>
              <a:rPr lang="en-US" b="1" dirty="0"/>
              <a:t>Women's Apparel</a:t>
            </a:r>
            <a:r>
              <a:rPr lang="en-US" dirty="0"/>
              <a:t> (282,086 total sales).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States</a:t>
            </a:r>
            <a:r>
              <a:rPr lang="en-US" dirty="0"/>
              <a:t>: </a:t>
            </a:r>
            <a:r>
              <a:rPr lang="en-US" b="1" dirty="0"/>
              <a:t>California</a:t>
            </a:r>
            <a:r>
              <a:rPr lang="en-US" dirty="0"/>
              <a:t> leads with 601,768 sales, followed by Washington and Oregon.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Bottom States</a:t>
            </a:r>
            <a:r>
              <a:rPr lang="en-US" dirty="0"/>
              <a:t>: </a:t>
            </a:r>
            <a:r>
              <a:rPr lang="en-US" b="1" dirty="0"/>
              <a:t>Utah</a:t>
            </a:r>
            <a:r>
              <a:rPr lang="en-US" dirty="0"/>
              <a:t> and </a:t>
            </a:r>
            <a:r>
              <a:rPr lang="en-US" b="1" dirty="0"/>
              <a:t>Arizona</a:t>
            </a:r>
            <a:r>
              <a:rPr lang="en-US" dirty="0"/>
              <a:t> underperform in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Sales Channels</a:t>
            </a:r>
            <a:r>
              <a:rPr lang="en-US" dirty="0"/>
              <a:t>: </a:t>
            </a:r>
            <a:r>
              <a:rPr lang="en-US" b="1" dirty="0"/>
              <a:t>In-store</a:t>
            </a:r>
            <a:r>
              <a:rPr lang="en-US" dirty="0"/>
              <a:t> is the highest contributor (595,588 total sales), with online and outlets trailing behind.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  <a:p>
            <a:r>
              <a:rPr lang="en-US" b="1" dirty="0"/>
              <a:t>Recommendations: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Maximize High Performers</a:t>
            </a:r>
            <a:r>
              <a:rPr lang="en-US" dirty="0"/>
              <a:t>: Focus marketing efforts in </a:t>
            </a:r>
            <a:r>
              <a:rPr lang="en-US" b="1" dirty="0"/>
              <a:t>California</a:t>
            </a:r>
            <a:r>
              <a:rPr lang="en-US" dirty="0"/>
              <a:t> and other high-performing states.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 Low-Performing States</a:t>
            </a:r>
            <a:r>
              <a:rPr lang="en-US" dirty="0"/>
              <a:t>: Implement targeted campaigns in </a:t>
            </a:r>
            <a:r>
              <a:rPr lang="en-US" b="1" dirty="0"/>
              <a:t>Utah</a:t>
            </a:r>
            <a:r>
              <a:rPr lang="en-US" dirty="0"/>
              <a:t> and </a:t>
            </a:r>
            <a:r>
              <a:rPr lang="en-US" b="1" dirty="0"/>
              <a:t>Arizona</a:t>
            </a:r>
            <a:r>
              <a:rPr lang="en-US" dirty="0"/>
              <a:t> to boost visibility and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Boost Online Sales</a:t>
            </a:r>
            <a:r>
              <a:rPr lang="en-US" dirty="0"/>
              <a:t>: Despite being second, online sales have room for improvement; invest in user-friendly platforms and targeted promotions.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Focus on Product Trends</a:t>
            </a:r>
            <a:r>
              <a:rPr lang="en-US" dirty="0"/>
              <a:t>: Enhance visibility for </a:t>
            </a:r>
            <a:r>
              <a:rPr lang="en-US" b="1" dirty="0"/>
              <a:t>Men's Street Footwear</a:t>
            </a:r>
            <a:r>
              <a:rPr lang="en-US" dirty="0"/>
              <a:t> and explore opportunities to grow sales for </a:t>
            </a:r>
            <a:r>
              <a:rPr lang="en-US" b="1" dirty="0"/>
              <a:t>Women's Athletic Footwear</a:t>
            </a:r>
            <a:r>
              <a:rPr lang="en-US" dirty="0"/>
              <a:t>, which has lower performance.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1410024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BB567D15-7D52-C3E3-0458-DD46EF10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a7228db11_0_21:notes">
            <a:extLst>
              <a:ext uri="{FF2B5EF4-FFF2-40B4-BE49-F238E27FC236}">
                <a16:creationId xmlns:a16="http://schemas.microsoft.com/office/drawing/2014/main" id="{E3337ABC-92E5-2D00-915B-A091A3B0C1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a7228db11_0_21:notes">
            <a:extLst>
              <a:ext uri="{FF2B5EF4-FFF2-40B4-BE49-F238E27FC236}">
                <a16:creationId xmlns:a16="http://schemas.microsoft.com/office/drawing/2014/main" id="{7F3211C2-13E6-0AAB-7923-04D63E9D19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18293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946BEC18-F221-C5BF-292B-1E5663B29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0C24D674-7134-B49E-B992-E4FC20068D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DED52229-55E2-ADCB-6777-1334417016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Insights: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Silhouette Score Analysis: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highest silhouette score (0.25) at </a:t>
            </a:r>
            <a:r>
              <a:rPr lang="en-US" b="1" dirty="0"/>
              <a:t>k=2</a:t>
            </a:r>
            <a:r>
              <a:rPr lang="en-US" dirty="0"/>
              <a:t> suggests that splitting the data into </a:t>
            </a:r>
            <a:r>
              <a:rPr lang="en-US" b="1" dirty="0"/>
              <a:t>2 clusters</a:t>
            </a:r>
            <a:r>
              <a:rPr lang="en-US" dirty="0"/>
              <a:t> achieves the best separation and cohesion.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score drops significantly at </a:t>
            </a:r>
            <a:r>
              <a:rPr lang="en-US" b="1" dirty="0"/>
              <a:t>k=3</a:t>
            </a:r>
            <a:r>
              <a:rPr lang="en-US" dirty="0"/>
              <a:t>, indicating weaker clustering quality.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K-Means Clustering (k=2):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Two distinct clusters are evident in the scatter plot: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Cluster 1</a:t>
            </a:r>
            <a:r>
              <a:rPr lang="en-US" dirty="0"/>
              <a:t>: Regions with higher sales and units sold.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Cluster 0</a:t>
            </a:r>
            <a:r>
              <a:rPr lang="en-US" dirty="0"/>
              <a:t>: Regions with lower sales and units sold.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Positive correlation between total sales and units sold across all clusters.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Recommendations: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Target High-Performance Regions (Cluster 1):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Focus marketing and resources on regions with high sales to maintain momentum.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Offer personalized promotions to sustain demand.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 Underperforming Regions (Cluster 0):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Investigate reasons for lower sales (e.g., product availability, pricing, or customer engagement).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Launch targeted campaigns or partnerships to boost performance.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Monitor Cluster Stability: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Regularly reevaluate the clustering as market dynamics change over time.</a:t>
            </a:r>
          </a:p>
        </p:txBody>
      </p:sp>
    </p:spTree>
    <p:extLst>
      <p:ext uri="{BB962C8B-B14F-4D97-AF65-F5344CB8AC3E}">
        <p14:creationId xmlns:p14="http://schemas.microsoft.com/office/powerpoint/2010/main" val="3516751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C8C5E08-542F-EA0D-06AD-0134F5C6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A9668662-9FE0-3ADD-AAA4-7197908FE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0FF71F81-B14C-2AB6-7FD7-938E9BE8D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Customer Segments: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Champions (50%)</a:t>
            </a:r>
            <a:r>
              <a:rPr lang="en-US" dirty="0"/>
              <a:t>: Loyal customers who frequently purchase and contribute significantly to revenue </a:t>
            </a:r>
            <a:r>
              <a:rPr lang="en-US" b="1" dirty="0"/>
              <a:t>(Foot Locker, Sports Direct, West Gear)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Potential Customers (33.3%)</a:t>
            </a:r>
            <a:r>
              <a:rPr lang="en-US" dirty="0"/>
              <a:t>: Customers with moderate engagement; they have potential for higher value </a:t>
            </a:r>
            <a:r>
              <a:rPr lang="en-US" b="1" dirty="0"/>
              <a:t>(Amazon, Kohl’s)</a:t>
            </a:r>
            <a:r>
              <a:rPr lang="en-US" b="0" dirty="0"/>
              <a:t>.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At-Risk (16.7%)</a:t>
            </a:r>
            <a:r>
              <a:rPr lang="en-US" dirty="0"/>
              <a:t>: Customers with low engagement and monetary contribution </a:t>
            </a:r>
            <a:r>
              <a:rPr lang="en-US" b="1" dirty="0"/>
              <a:t>(Walmart)</a:t>
            </a:r>
            <a:r>
              <a:rPr lang="en-US" dirty="0"/>
              <a:t>.</a:t>
            </a:r>
          </a:p>
          <a:p>
            <a:pPr marL="15875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Correlation Analysis: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Strong positive correlation between </a:t>
            </a:r>
            <a:r>
              <a:rPr lang="en-US" b="1" dirty="0"/>
              <a:t>Frequency and Monetary</a:t>
            </a:r>
            <a:r>
              <a:rPr lang="en-US" dirty="0"/>
              <a:t> (0.97): High purchase frequency aligns with higher spending.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Negative correlation between </a:t>
            </a:r>
            <a:r>
              <a:rPr lang="en-US" b="1" dirty="0"/>
              <a:t>Recency and Frequency/Monetary</a:t>
            </a:r>
            <a:r>
              <a:rPr lang="en-US" dirty="0"/>
              <a:t>: Recent interactions indicate higher customer value.</a:t>
            </a:r>
          </a:p>
          <a:p>
            <a:pPr marL="15875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b="1" dirty="0"/>
              <a:t>RFM Performance: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Foot Locker and West Gear are top-performing (Champions).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Walmart has the lowest RFM scores, indicating potential disengagement.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r>
              <a:rPr lang="en-US" b="1" dirty="0"/>
              <a:t>Recommendations: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 Champions: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Reward loyalty</a:t>
            </a:r>
            <a:r>
              <a:rPr lang="en-US" dirty="0"/>
              <a:t> with exclusive offers, early access to sales, and personalized promotions to maintain engagement.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 Potential Customers: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Target with </a:t>
            </a:r>
            <a:r>
              <a:rPr lang="en-US" b="1" dirty="0"/>
              <a:t>upselling campaigns</a:t>
            </a:r>
            <a:r>
              <a:rPr lang="en-US" dirty="0"/>
              <a:t>, personalized recommendations, and limited-time discounts to move them toward the Champion segment.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For At-Risk Customers: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Use </a:t>
            </a:r>
            <a:r>
              <a:rPr lang="en-US" b="1" dirty="0"/>
              <a:t>re-engagement strategies</a:t>
            </a:r>
            <a:r>
              <a:rPr lang="en-US" dirty="0"/>
              <a:t>, such as win-back campaigns, surveys to understand disengagement, and offering incentives to reactivate them.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Overall Strategy: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Focus on improving customer experience by analyzing specific needs of each segment.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Leverage insights from the Frequency-Monetary correlation to drive high-value behaviors.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4686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>
          <a:extLst>
            <a:ext uri="{FF2B5EF4-FFF2-40B4-BE49-F238E27FC236}">
              <a16:creationId xmlns:a16="http://schemas.microsoft.com/office/drawing/2014/main" id="{3F91981F-4147-4CC6-B19F-C3B60142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a7228db11_0_21:notes">
            <a:extLst>
              <a:ext uri="{FF2B5EF4-FFF2-40B4-BE49-F238E27FC236}">
                <a16:creationId xmlns:a16="http://schemas.microsoft.com/office/drawing/2014/main" id="{C87E3A15-3C91-57BF-59AD-A27311458B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a7228db11_0_21:notes">
            <a:extLst>
              <a:ext uri="{FF2B5EF4-FFF2-40B4-BE49-F238E27FC236}">
                <a16:creationId xmlns:a16="http://schemas.microsoft.com/office/drawing/2014/main" id="{3E453E0A-8929-FD35-2607-EDA640F0B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6137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49C68C1-39EF-38CD-29C7-7222DA78E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5F45F283-A1FA-5FD0-AE79-1CCEEFD2DC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28C3A24B-CAEB-6E2B-0743-D51E124E6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Insights: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Correlation Analysis: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Moderate positive correlation (0.44) between price per unit and total sales suggests higher prices lead to increased sales up to a point, indicating premium products might drive revenue.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Regional Trends: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Sales volumes vary across regions, with notable activity in the Southeast and West.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Higher price ranges see sales concentrated in specific regions, suggesting regional preferences for premium pricing.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  <a:p>
            <a:r>
              <a:rPr lang="en-US" b="1" dirty="0"/>
              <a:t>Recommendations: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Optimize Pricing Strategy: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Experiment with tiered pricing to capture both budget-conscious and premium buyers.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Target regions like Southeast and West with premium products to maximize revenue.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Regional Marketing: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Tailor campaigns to emphasize value in regions with lower total sales.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Highlight premium offerings in regions showing stronger sales at higher price points.</a:t>
            </a:r>
          </a:p>
          <a:p>
            <a:pPr marL="457200" lvl="1" indent="0">
              <a:buFont typeface="+mj-lt"/>
              <a:buNone/>
            </a:pPr>
            <a:r>
              <a:rPr lang="en-US" dirty="0"/>
              <a:t>----------------------</a:t>
            </a:r>
          </a:p>
          <a:p>
            <a:r>
              <a:rPr lang="en-US" b="1" dirty="0"/>
              <a:t>Sales Patterns Across Regions: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Southeast and West regions:</a:t>
            </a:r>
            <a:r>
              <a:rPr lang="en-US" dirty="0"/>
              <a:t> These regions have a noticeable concentration of sales at higher price points, suggesting customers in these areas are more inclined to purchase premium-priced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Northeast and South regions:</a:t>
            </a:r>
            <a:r>
              <a:rPr lang="en-US" dirty="0"/>
              <a:t> These show a broader spread across lower price points, indicating demand for mid-range or budget-friendly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Midwest:</a:t>
            </a:r>
            <a:r>
              <a:rPr lang="en-US" dirty="0"/>
              <a:t> This region demonstrates moderate activity, with sales distributed across a wide price range but fewer outliers at the highest price points.</a:t>
            </a:r>
          </a:p>
          <a:p>
            <a:r>
              <a:rPr lang="en-US" b="1" dirty="0"/>
              <a:t>Density of Sales: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total sales are clustered at mid-range prices ($20-$60 per unit) across most regions, suggesting a sweet spot for pricing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drop off significantly at very high price points (&gt; $80), but Southeast and West maintain some activity even in this range.</a:t>
            </a:r>
          </a:p>
          <a:p>
            <a:r>
              <a:rPr lang="en-US" b="1" dirty="0"/>
              <a:t>Market Preferences: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Regions like the Southeast appear to have a stronger demand for higher-priced products compared to regions like the South, which shows heavier sales in the lower price range.</a:t>
            </a:r>
          </a:p>
          <a:p>
            <a:pPr marL="457200" lvl="1" indent="0">
              <a:buFont typeface="+mj-lt"/>
              <a:buNone/>
            </a:pPr>
            <a:r>
              <a:rPr lang="en-US" dirty="0"/>
              <a:t>------------------</a:t>
            </a:r>
          </a:p>
          <a:p>
            <a:pPr marL="457200" lvl="1" indent="0">
              <a:buFont typeface="+mj-lt"/>
              <a:buNone/>
            </a:pPr>
            <a:r>
              <a:rPr lang="en-US" dirty="0"/>
              <a:t>For </a:t>
            </a:r>
            <a:r>
              <a:rPr lang="en-US" b="1" dirty="0"/>
              <a:t>premium products</a:t>
            </a:r>
            <a:r>
              <a:rPr lang="en-US" dirty="0"/>
              <a:t>, prioritize marketing and inventory allocation in regions like the Southeast and West.</a:t>
            </a:r>
          </a:p>
          <a:p>
            <a:pPr marL="457200" lvl="1" indent="0">
              <a:buFont typeface="+mj-lt"/>
              <a:buNone/>
            </a:pPr>
            <a:r>
              <a:rPr lang="en-US" dirty="0"/>
              <a:t>For </a:t>
            </a:r>
            <a:r>
              <a:rPr lang="en-US" b="1" dirty="0"/>
              <a:t>budget-friendly options</a:t>
            </a:r>
            <a:r>
              <a:rPr lang="en-US" dirty="0"/>
              <a:t>, focus efforts on the Northeast and South, where demand for lower price points is stronger.</a:t>
            </a:r>
          </a:p>
          <a:p>
            <a:pPr marL="457200" lvl="1" indent="0">
              <a:buFont typeface="+mj-lt"/>
              <a:buNone/>
            </a:pPr>
            <a:r>
              <a:rPr lang="en-US" dirty="0"/>
              <a:t>Conduct further research into regional customer preferences to fine-tune pricing and product offerings.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23549292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5F933EE-DAD5-EB57-0EFF-31F064DA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B916AFE6-78FA-E063-5F7A-28B56C85C1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AFD7FF30-5AE2-1535-1CF4-52C2B21D7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Quartile Representation: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Products are grouped into </a:t>
            </a:r>
            <a:r>
              <a:rPr lang="en-US" b="1" dirty="0"/>
              <a:t>Bottom 25%, Second 25%, Third 25%,</a:t>
            </a:r>
            <a:r>
              <a:rPr lang="en-US" dirty="0"/>
              <a:t> and </a:t>
            </a:r>
            <a:r>
              <a:rPr lang="en-US" b="1" dirty="0"/>
              <a:t>Top 25%</a:t>
            </a:r>
            <a:r>
              <a:rPr lang="en-US" dirty="0"/>
              <a:t> quartiles based on total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box in the plot represents the range of sales for products within that quartile.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Insights from the Box Plot: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25% Quartile: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largest box, indicating a wide range of high-performing products, with total sales peaking around </a:t>
            </a:r>
            <a:r>
              <a:rPr lang="en-US" b="1" dirty="0"/>
              <a:t>2 million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Includes products like </a:t>
            </a:r>
            <a:r>
              <a:rPr lang="en-US" b="1" dirty="0"/>
              <a:t>Men's Street Footwear</a:t>
            </a:r>
            <a:r>
              <a:rPr lang="en-US" dirty="0"/>
              <a:t> and </a:t>
            </a:r>
            <a:r>
              <a:rPr lang="en-US" b="1" dirty="0"/>
              <a:t>Women's Apparel.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Second and Third Quartiles: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Moderate sales levels with narrower ranges, indicating stable but less competitive products like </a:t>
            </a:r>
            <a:r>
              <a:rPr lang="en-US" b="1" dirty="0"/>
              <a:t>Women's Street Footwear</a:t>
            </a:r>
            <a:r>
              <a:rPr lang="en-US" dirty="0"/>
              <a:t> and </a:t>
            </a:r>
            <a:r>
              <a:rPr lang="en-US" b="1" dirty="0"/>
              <a:t>Men's Athletic Footwear.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Bottom 25% Quartile: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Small range of sales, with total sales not exceeding </a:t>
            </a:r>
            <a:r>
              <a:rPr lang="en-US" b="1" dirty="0"/>
              <a:t>1.2 million.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Represents underperforming products like </a:t>
            </a:r>
            <a:r>
              <a:rPr lang="en-US" b="1" dirty="0"/>
              <a:t>Men's Apparel</a:t>
            </a:r>
            <a:r>
              <a:rPr lang="en-US" dirty="0"/>
              <a:t> and </a:t>
            </a:r>
            <a:r>
              <a:rPr lang="en-US" b="1" dirty="0"/>
              <a:t>Women's Athletic Footwear.</a:t>
            </a:r>
            <a:endParaRPr lang="en-US" dirty="0"/>
          </a:p>
          <a:p>
            <a:r>
              <a:rPr lang="en-US" b="1" dirty="0"/>
              <a:t>Outliers: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lack of extreme outliers indicates that sales are relatively consistent within each quartile.</a:t>
            </a:r>
            <a:br>
              <a:rPr lang="en-US" dirty="0"/>
            </a:br>
            <a:endParaRPr lang="en-US" dirty="0"/>
          </a:p>
          <a:p>
            <a:pPr marL="158750" indent="0">
              <a:buFont typeface="Arial" panose="020B0604020202020204" pitchFamily="34" charset="0"/>
              <a:buNone/>
            </a:pPr>
            <a:r>
              <a:rPr lang="en-US" dirty="0"/>
              <a:t>Products in the </a:t>
            </a:r>
            <a:r>
              <a:rPr lang="en-US" b="1" dirty="0"/>
              <a:t>Top 25%</a:t>
            </a:r>
            <a:r>
              <a:rPr lang="en-US" dirty="0"/>
              <a:t> drive the majority of total sales, making them crucial to overall </a:t>
            </a:r>
            <a:r>
              <a:rPr lang="en-US" dirty="0" err="1"/>
              <a:t>performance.The</a:t>
            </a:r>
            <a:r>
              <a:rPr lang="en-US" dirty="0"/>
              <a:t> </a:t>
            </a:r>
            <a:r>
              <a:rPr lang="en-US" b="1" dirty="0"/>
              <a:t>Bottom 25%</a:t>
            </a:r>
            <a:r>
              <a:rPr lang="en-US" dirty="0"/>
              <a:t> products have limited sales, suggesting the need for strategic adjustments.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18266953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0CF45BB-BEB2-EC92-D711-13634A70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552C7C23-549F-96E0-6CC5-6F443F30C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6E5F2680-B6ED-B9C1-1254-53702C72B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25570465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1B58679-B666-96E3-F139-5218E437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904B9B21-3914-BF05-368B-289C1EDDDA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707DA1BA-59D4-D8F9-3B56-72D9D905D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The model performs well for baseline forecasting.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Underestimation in the test period suggests sales variability driven by external factors not included in the model.</a:t>
            </a:r>
          </a:p>
          <a:p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Future improvements could include adding:</a:t>
            </a:r>
            <a:b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</a:b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holiday/seasonality regressors</a:t>
            </a: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region-level models</a:t>
            </a: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product-category segmentation</a:t>
            </a:r>
          </a:p>
          <a:p>
            <a:pPr marL="158750" indent="0">
              <a:buNone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- price or marketing features.</a:t>
            </a:r>
          </a:p>
        </p:txBody>
      </p:sp>
    </p:spTree>
    <p:extLst>
      <p:ext uri="{BB962C8B-B14F-4D97-AF65-F5344CB8AC3E}">
        <p14:creationId xmlns:p14="http://schemas.microsoft.com/office/powerpoint/2010/main" val="8286242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880BE67-33A4-65AF-25BC-5737901AB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b087c8887_0_25183:notes">
            <a:extLst>
              <a:ext uri="{FF2B5EF4-FFF2-40B4-BE49-F238E27FC236}">
                <a16:creationId xmlns:a16="http://schemas.microsoft.com/office/drawing/2014/main" id="{779D161B-FAD5-6245-9A72-183482309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b087c8887_0_25183:notes">
            <a:extLst>
              <a:ext uri="{FF2B5EF4-FFF2-40B4-BE49-F238E27FC236}">
                <a16:creationId xmlns:a16="http://schemas.microsoft.com/office/drawing/2014/main" id="{BDAC0F18-46D4-5BA1-5456-77744C507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="1" i="0" dirty="0"/>
          </a:p>
        </p:txBody>
      </p:sp>
    </p:spTree>
    <p:extLst>
      <p:ext uri="{BB962C8B-B14F-4D97-AF65-F5344CB8AC3E}">
        <p14:creationId xmlns:p14="http://schemas.microsoft.com/office/powerpoint/2010/main" val="31593322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2DEA3-441A-B7AD-7B93-C7C064EF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FAB15-5DBD-02F3-51EE-9049DAB05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4D8F2-BC3B-4326-0207-DDB349F43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4AB4-BB7A-957E-C359-00FD3D4C6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37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41675" y="2044925"/>
            <a:ext cx="4296600" cy="114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 ExtraBold"/>
              <a:buNone/>
              <a:defRPr sz="35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Montserrat ExtraBold"/>
              <a:buNone/>
              <a:defRPr sz="40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41675" y="3078350"/>
            <a:ext cx="42966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pen Sans"/>
              <a:buNone/>
              <a:defRPr sz="1700">
                <a:solidFill>
                  <a:srgbClr val="FFFFFF"/>
                </a:solidFill>
                <a:highlight>
                  <a:srgbClr val="FFB200"/>
                </a:highlight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 hasCustomPrompt="1"/>
          </p:nvPr>
        </p:nvSpPr>
        <p:spPr>
          <a:xfrm>
            <a:off x="720000" y="54000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" name="Google Shape;13;p3"/>
          <p:cNvSpPr txBox="1">
            <a:spLocks noGrp="1"/>
          </p:cNvSpPr>
          <p:nvPr>
            <p:ph type="ctrTitle" idx="2"/>
          </p:nvPr>
        </p:nvSpPr>
        <p:spPr>
          <a:xfrm>
            <a:off x="720000" y="3686175"/>
            <a:ext cx="4663200" cy="56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4135200"/>
            <a:ext cx="46632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Open Sans"/>
              <a:buNone/>
              <a:defRPr sz="1700">
                <a:solidFill>
                  <a:srgbClr val="FFFFFF"/>
                </a:solidFill>
                <a:highlight>
                  <a:srgbClr val="FFB200"/>
                </a:highlight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112700"/>
            <a:ext cx="7704000" cy="34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rabicPeriod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rabicPeriod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B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720000" y="1185550"/>
            <a:ext cx="3709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720000" y="2898325"/>
            <a:ext cx="3709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4939500" y="540000"/>
            <a:ext cx="3484500" cy="40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720000" y="4162425"/>
            <a:ext cx="7704000" cy="44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/>
          <p:nvPr/>
        </p:nvSpPr>
        <p:spPr>
          <a:xfrm>
            <a:off x="152400" y="166550"/>
            <a:ext cx="6058800" cy="1234200"/>
          </a:xfrm>
          <a:prstGeom prst="rect">
            <a:avLst/>
          </a:prstGeom>
          <a:solidFill>
            <a:srgbClr val="FFB2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title" hasCustomPrompt="1"/>
          </p:nvPr>
        </p:nvSpPr>
        <p:spPr>
          <a:xfrm>
            <a:off x="720000" y="2132600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 sz="3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1"/>
          </p:nvPr>
        </p:nvSpPr>
        <p:spPr>
          <a:xfrm>
            <a:off x="1938300" y="2004350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669100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 sz="3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3"/>
          </p:nvPr>
        </p:nvSpPr>
        <p:spPr>
          <a:xfrm>
            <a:off x="1938300" y="3516675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4" hasCustomPrompt="1"/>
          </p:nvPr>
        </p:nvSpPr>
        <p:spPr>
          <a:xfrm>
            <a:off x="4752900" y="2132600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 sz="3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5"/>
          </p:nvPr>
        </p:nvSpPr>
        <p:spPr>
          <a:xfrm>
            <a:off x="5971200" y="2004350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6" hasCustomPrompt="1"/>
          </p:nvPr>
        </p:nvSpPr>
        <p:spPr>
          <a:xfrm>
            <a:off x="4752900" y="3669100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 sz="35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None/>
              <a:defRPr sz="5000">
                <a:solidFill>
                  <a:srgbClr val="000000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7"/>
          </p:nvPr>
        </p:nvSpPr>
        <p:spPr>
          <a:xfrm>
            <a:off x="5971200" y="3516675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549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9"/>
          </p:nvPr>
        </p:nvSpPr>
        <p:spPr>
          <a:xfrm>
            <a:off x="1947450" y="2360150"/>
            <a:ext cx="24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3"/>
          </p:nvPr>
        </p:nvSpPr>
        <p:spPr>
          <a:xfrm>
            <a:off x="5971050" y="2360150"/>
            <a:ext cx="24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4"/>
          </p:nvPr>
        </p:nvSpPr>
        <p:spPr>
          <a:xfrm>
            <a:off x="1947450" y="3909450"/>
            <a:ext cx="24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5"/>
          </p:nvPr>
        </p:nvSpPr>
        <p:spPr>
          <a:xfrm>
            <a:off x="5971050" y="3909450"/>
            <a:ext cx="245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24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 sz="18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6" r:id="rId5"/>
    <p:sldLayoutId id="2147483658" r:id="rId6"/>
    <p:sldLayoutId id="2147483659" r:id="rId7"/>
    <p:sldLayoutId id="2147483674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8"/>
          <p:cNvPicPr preferRelativeResize="0"/>
          <p:nvPr/>
        </p:nvPicPr>
        <p:blipFill rotWithShape="1">
          <a:blip r:embed="rId3">
            <a:alphaModFix/>
          </a:blip>
          <a:srcRect l="644" r="24398"/>
          <a:stretch/>
        </p:blipFill>
        <p:spPr>
          <a:xfrm>
            <a:off x="152400" y="152400"/>
            <a:ext cx="544032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8"/>
          <p:cNvSpPr txBox="1">
            <a:spLocks noGrp="1"/>
          </p:cNvSpPr>
          <p:nvPr>
            <p:ph type="ctrTitle"/>
          </p:nvPr>
        </p:nvSpPr>
        <p:spPr>
          <a:xfrm>
            <a:off x="4141675" y="2044925"/>
            <a:ext cx="4296600" cy="114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1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NIKE</a:t>
            </a:r>
            <a:br>
              <a:rPr lang="en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MARKET EXPLORER</a:t>
            </a:r>
            <a:endParaRPr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1" name="Google Shape;141;p28"/>
          <p:cNvSpPr txBox="1">
            <a:spLocks noGrp="1"/>
          </p:cNvSpPr>
          <p:nvPr>
            <p:ph type="subTitle" idx="1"/>
          </p:nvPr>
        </p:nvSpPr>
        <p:spPr>
          <a:xfrm>
            <a:off x="4141675" y="3073326"/>
            <a:ext cx="5014128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Unlocking Sales Dynamics for Strategic Growth</a:t>
            </a:r>
            <a:endParaRPr dirty="0"/>
          </a:p>
        </p:txBody>
      </p:sp>
      <p:sp>
        <p:nvSpPr>
          <p:cNvPr id="142" name="Google Shape;142;p28"/>
          <p:cNvSpPr/>
          <p:nvPr/>
        </p:nvSpPr>
        <p:spPr>
          <a:xfrm rot="-403656">
            <a:off x="8322887" y="1903431"/>
            <a:ext cx="202213" cy="202637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549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OUTLINE</a:t>
            </a:r>
            <a:endParaRPr dirty="0"/>
          </a:p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3">
            <a:alphaModFix/>
          </a:blip>
          <a:srcRect t="30603"/>
          <a:stretch/>
        </p:blipFill>
        <p:spPr>
          <a:xfrm flipH="1">
            <a:off x="6319151" y="156900"/>
            <a:ext cx="2667699" cy="123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0"/>
          <p:cNvSpPr txBox="1">
            <a:spLocks noGrp="1"/>
          </p:cNvSpPr>
          <p:nvPr>
            <p:ph type="title"/>
          </p:nvPr>
        </p:nvSpPr>
        <p:spPr>
          <a:xfrm>
            <a:off x="718894" y="1950544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00000"/>
                </a:solidFill>
              </a:rPr>
              <a:t>01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57" name="Google Shape;157;p30"/>
          <p:cNvSpPr txBox="1">
            <a:spLocks noGrp="1"/>
          </p:cNvSpPr>
          <p:nvPr>
            <p:ph type="subTitle" idx="1"/>
          </p:nvPr>
        </p:nvSpPr>
        <p:spPr>
          <a:xfrm>
            <a:off x="1895062" y="1878681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/>
              <a:t>DATA PREPARATION</a:t>
            </a:r>
            <a:endParaRPr sz="2000" dirty="0"/>
          </a:p>
        </p:txBody>
      </p:sp>
      <p:sp>
        <p:nvSpPr>
          <p:cNvPr id="158" name="Google Shape;158;p30"/>
          <p:cNvSpPr txBox="1">
            <a:spLocks noGrp="1"/>
          </p:cNvSpPr>
          <p:nvPr>
            <p:ph type="title" idx="2"/>
          </p:nvPr>
        </p:nvSpPr>
        <p:spPr>
          <a:xfrm>
            <a:off x="785802" y="3048446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03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9" name="Google Shape;159;p30"/>
          <p:cNvSpPr txBox="1">
            <a:spLocks noGrp="1"/>
          </p:cNvSpPr>
          <p:nvPr>
            <p:ph type="subTitle" idx="3"/>
          </p:nvPr>
        </p:nvSpPr>
        <p:spPr>
          <a:xfrm>
            <a:off x="1961970" y="3004168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000" dirty="0"/>
              <a:t>REGIONAL ANALYSIS</a:t>
            </a:r>
            <a:endParaRPr sz="2000" dirty="0"/>
          </a:p>
        </p:txBody>
      </p:sp>
      <p:sp>
        <p:nvSpPr>
          <p:cNvPr id="160" name="Google Shape;160;p30"/>
          <p:cNvSpPr/>
          <p:nvPr/>
        </p:nvSpPr>
        <p:spPr>
          <a:xfrm rot="-403778">
            <a:off x="1661246" y="224546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0"/>
          <p:cNvSpPr/>
          <p:nvPr/>
        </p:nvSpPr>
        <p:spPr>
          <a:xfrm rot="-403778">
            <a:off x="1728154" y="3282738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 idx="4"/>
          </p:nvPr>
        </p:nvSpPr>
        <p:spPr>
          <a:xfrm>
            <a:off x="4751794" y="1950544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3" name="Google Shape;163;p30"/>
          <p:cNvSpPr txBox="1">
            <a:spLocks noGrp="1"/>
          </p:cNvSpPr>
          <p:nvPr>
            <p:ph type="subTitle" idx="5"/>
          </p:nvPr>
        </p:nvSpPr>
        <p:spPr>
          <a:xfrm>
            <a:off x="5969944" y="1878681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dirty="0"/>
              <a:t>EXPLORATORY DATA ANALYSIS</a:t>
            </a:r>
            <a:endParaRPr sz="2000" dirty="0"/>
          </a:p>
        </p:txBody>
      </p:sp>
      <p:sp>
        <p:nvSpPr>
          <p:cNvPr id="164" name="Google Shape;164;p30"/>
          <p:cNvSpPr txBox="1">
            <a:spLocks noGrp="1"/>
          </p:cNvSpPr>
          <p:nvPr>
            <p:ph type="title" idx="6"/>
          </p:nvPr>
        </p:nvSpPr>
        <p:spPr>
          <a:xfrm>
            <a:off x="4818702" y="3048446"/>
            <a:ext cx="900000" cy="6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subTitle" idx="7"/>
          </p:nvPr>
        </p:nvSpPr>
        <p:spPr>
          <a:xfrm>
            <a:off x="6051721" y="2988295"/>
            <a:ext cx="2452500" cy="3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-US" sz="2000" dirty="0"/>
              <a:t>CUSTOMER SEGMENTATION</a:t>
            </a:r>
          </a:p>
        </p:txBody>
      </p:sp>
      <p:sp>
        <p:nvSpPr>
          <p:cNvPr id="166" name="Google Shape;166;p30"/>
          <p:cNvSpPr/>
          <p:nvPr/>
        </p:nvSpPr>
        <p:spPr>
          <a:xfrm rot="-403778">
            <a:off x="5680096" y="224546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0"/>
          <p:cNvSpPr/>
          <p:nvPr/>
        </p:nvSpPr>
        <p:spPr>
          <a:xfrm rot="-403778">
            <a:off x="5747004" y="3282738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56;p30">
            <a:extLst>
              <a:ext uri="{FF2B5EF4-FFF2-40B4-BE49-F238E27FC236}">
                <a16:creationId xmlns:a16="http://schemas.microsoft.com/office/drawing/2014/main" id="{12CE9319-B40C-8AF6-34E8-E9ED17725727}"/>
              </a:ext>
            </a:extLst>
          </p:cNvPr>
          <p:cNvSpPr txBox="1">
            <a:spLocks/>
          </p:cNvSpPr>
          <p:nvPr/>
        </p:nvSpPr>
        <p:spPr>
          <a:xfrm>
            <a:off x="2469861" y="3998566"/>
            <a:ext cx="900000" cy="6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Montserrat ExtraBold"/>
              <a:buNone/>
              <a:defRPr sz="35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Montserrat Black"/>
              <a:buNone/>
              <a:defRPr sz="5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3" name="Google Shape;157;p30">
            <a:extLst>
              <a:ext uri="{FF2B5EF4-FFF2-40B4-BE49-F238E27FC236}">
                <a16:creationId xmlns:a16="http://schemas.microsoft.com/office/drawing/2014/main" id="{2BCCFD57-786F-F265-3832-4B4DA5B6385E}"/>
              </a:ext>
            </a:extLst>
          </p:cNvPr>
          <p:cNvSpPr txBox="1">
            <a:spLocks/>
          </p:cNvSpPr>
          <p:nvPr/>
        </p:nvSpPr>
        <p:spPr>
          <a:xfrm>
            <a:off x="3606911" y="3985119"/>
            <a:ext cx="2966743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Open Sans"/>
              <a:buNone/>
              <a:defRPr sz="16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sz="2000" dirty="0"/>
              <a:t>PRICING AND PRODUCT ANALYSIS</a:t>
            </a:r>
          </a:p>
          <a:p>
            <a:pPr marL="0" indent="0">
              <a:spcAft>
                <a:spcPts val="1600"/>
              </a:spcAft>
            </a:pPr>
            <a:endParaRPr lang="en-US" sz="2000" dirty="0"/>
          </a:p>
        </p:txBody>
      </p:sp>
      <p:sp>
        <p:nvSpPr>
          <p:cNvPr id="4" name="Google Shape;160;p30">
            <a:extLst>
              <a:ext uri="{FF2B5EF4-FFF2-40B4-BE49-F238E27FC236}">
                <a16:creationId xmlns:a16="http://schemas.microsoft.com/office/drawing/2014/main" id="{D73D0077-12BC-C5E5-3B88-00A53DFAC4FD}"/>
              </a:ext>
            </a:extLst>
          </p:cNvPr>
          <p:cNvSpPr/>
          <p:nvPr/>
        </p:nvSpPr>
        <p:spPr>
          <a:xfrm rot="-403778">
            <a:off x="3412213" y="4293483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 l="1171" r="1181"/>
          <a:stretch/>
        </p:blipFill>
        <p:spPr>
          <a:xfrm flipH="1">
            <a:off x="5838825" y="152400"/>
            <a:ext cx="31480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>
            <a:spLocks noGrp="1"/>
          </p:cNvSpPr>
          <p:nvPr>
            <p:ph type="title"/>
          </p:nvPr>
        </p:nvSpPr>
        <p:spPr>
          <a:xfrm>
            <a:off x="720000" y="101625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02" name="Google Shape;202;p32"/>
          <p:cNvSpPr/>
          <p:nvPr/>
        </p:nvSpPr>
        <p:spPr>
          <a:xfrm rot="-403563">
            <a:off x="2615535" y="1200775"/>
            <a:ext cx="367694" cy="368463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/>
          <p:cNvSpPr txBox="1">
            <a:spLocks noGrp="1"/>
          </p:cNvSpPr>
          <p:nvPr>
            <p:ph type="subTitle" idx="1"/>
          </p:nvPr>
        </p:nvSpPr>
        <p:spPr>
          <a:xfrm>
            <a:off x="671941" y="2571750"/>
            <a:ext cx="4663200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DATA</a:t>
            </a:r>
            <a:r>
              <a:rPr lang="en-US" sz="2400" dirty="0"/>
              <a:t> </a:t>
            </a:r>
            <a:r>
              <a:rPr lang="en-US" sz="3200" dirty="0"/>
              <a:t>PREPARATION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11E22085-2D11-7A68-6780-C59E0B3F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4CC3B3B4-5CEB-45EA-7A0E-59341D6F8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DATA PREPARATION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7F5B8281-C34A-0AA6-A988-7D7871F42E2A}"/>
              </a:ext>
            </a:extLst>
          </p:cNvPr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517CD-6000-5D80-6822-980FB6C73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70" y="1161735"/>
            <a:ext cx="7649737" cy="282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9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DATA PREPARATION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/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EE080C-023F-10AA-B885-ACA25C920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405" y="1709854"/>
            <a:ext cx="6064918" cy="2368702"/>
          </a:xfrm>
          <a:prstGeom prst="rect">
            <a:avLst/>
          </a:prstGeom>
        </p:spPr>
      </p:pic>
      <p:sp>
        <p:nvSpPr>
          <p:cNvPr id="5" name="Google Shape;1186;p37">
            <a:extLst>
              <a:ext uri="{FF2B5EF4-FFF2-40B4-BE49-F238E27FC236}">
                <a16:creationId xmlns:a16="http://schemas.microsoft.com/office/drawing/2014/main" id="{234F39EF-514F-E582-D3CD-F8E51C3D90D4}"/>
              </a:ext>
            </a:extLst>
          </p:cNvPr>
          <p:cNvSpPr/>
          <p:nvPr/>
        </p:nvSpPr>
        <p:spPr>
          <a:xfrm flipV="1">
            <a:off x="1711272" y="4200586"/>
            <a:ext cx="1148261" cy="198926"/>
          </a:xfrm>
          <a:custGeom>
            <a:avLst/>
            <a:gdLst/>
            <a:ahLst/>
            <a:cxnLst/>
            <a:rect l="l" t="t" r="r" b="b"/>
            <a:pathLst>
              <a:path w="80705" h="7957" extrusionOk="0">
                <a:moveTo>
                  <a:pt x="0" y="0"/>
                </a:moveTo>
                <a:lnTo>
                  <a:pt x="80705" y="0"/>
                </a:lnTo>
                <a:lnTo>
                  <a:pt x="80705" y="7957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oval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1186;p37">
            <a:extLst>
              <a:ext uri="{FF2B5EF4-FFF2-40B4-BE49-F238E27FC236}">
                <a16:creationId xmlns:a16="http://schemas.microsoft.com/office/drawing/2014/main" id="{7FBF1D80-9677-515A-D3A6-63CAC577074B}"/>
              </a:ext>
            </a:extLst>
          </p:cNvPr>
          <p:cNvSpPr/>
          <p:nvPr/>
        </p:nvSpPr>
        <p:spPr>
          <a:xfrm>
            <a:off x="1711272" y="1388898"/>
            <a:ext cx="1148261" cy="198925"/>
          </a:xfrm>
          <a:custGeom>
            <a:avLst/>
            <a:gdLst/>
            <a:ahLst/>
            <a:cxnLst/>
            <a:rect l="l" t="t" r="r" b="b"/>
            <a:pathLst>
              <a:path w="80705" h="7957" extrusionOk="0">
                <a:moveTo>
                  <a:pt x="0" y="0"/>
                </a:moveTo>
                <a:lnTo>
                  <a:pt x="80705" y="0"/>
                </a:lnTo>
                <a:lnTo>
                  <a:pt x="80705" y="7957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oval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7" name="Google Shape;1179;p37">
            <a:extLst>
              <a:ext uri="{FF2B5EF4-FFF2-40B4-BE49-F238E27FC236}">
                <a16:creationId xmlns:a16="http://schemas.microsoft.com/office/drawing/2014/main" id="{28A0C6F1-63E3-7903-FC8D-56A2A63A0CE2}"/>
              </a:ext>
            </a:extLst>
          </p:cNvPr>
          <p:cNvSpPr txBox="1">
            <a:spLocks/>
          </p:cNvSpPr>
          <p:nvPr/>
        </p:nvSpPr>
        <p:spPr>
          <a:xfrm>
            <a:off x="499660" y="1227154"/>
            <a:ext cx="1148261" cy="4159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>
              <a:buFont typeface="Nanum Gothic"/>
              <a:buNone/>
            </a:pPr>
            <a:r>
              <a:rPr lang="en" sz="14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 </a:t>
            </a:r>
            <a:r>
              <a:rPr lang="en" sz="1400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columns</a:t>
            </a:r>
          </a:p>
        </p:txBody>
      </p:sp>
      <p:sp>
        <p:nvSpPr>
          <p:cNvPr id="8" name="Google Shape;1179;p37">
            <a:extLst>
              <a:ext uri="{FF2B5EF4-FFF2-40B4-BE49-F238E27FC236}">
                <a16:creationId xmlns:a16="http://schemas.microsoft.com/office/drawing/2014/main" id="{15720C9B-CC21-6B84-A6CA-5D08E40924CC}"/>
              </a:ext>
            </a:extLst>
          </p:cNvPr>
          <p:cNvSpPr txBox="1">
            <a:spLocks/>
          </p:cNvSpPr>
          <p:nvPr/>
        </p:nvSpPr>
        <p:spPr>
          <a:xfrm>
            <a:off x="499660" y="4187507"/>
            <a:ext cx="1148261" cy="4159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>
              <a:buFont typeface="Nanum Gothic"/>
              <a:buNone/>
            </a:pPr>
            <a:r>
              <a:rPr lang="en" sz="14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9360  </a:t>
            </a:r>
            <a:r>
              <a:rPr lang="en" sz="1400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F6E70AC2-BAA7-466E-B653-C2A4AA341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1EF93690-FD6C-2315-4F14-E5FC4BCD5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DATA PREPARATION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A1A36929-A6ED-0357-FB74-310F70977683}"/>
              </a:ext>
            </a:extLst>
          </p:cNvPr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3F2643-7C53-C85B-165C-954E5E9A5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77" y="1423131"/>
            <a:ext cx="8526646" cy="13275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AFDB1E-FC66-79FD-4D8F-18E3DED7733E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21062" y="932477"/>
            <a:ext cx="0" cy="49065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750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3728A7C-DA38-3923-793F-3753B5D3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4A685111-922E-5FDE-1636-4C012329D9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DATA PREPARATION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3B79BC92-7E5E-C6DE-FDC4-CC0ABCD79582}"/>
              </a:ext>
            </a:extLst>
          </p:cNvPr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150;p36">
            <a:extLst>
              <a:ext uri="{FF2B5EF4-FFF2-40B4-BE49-F238E27FC236}">
                <a16:creationId xmlns:a16="http://schemas.microsoft.com/office/drawing/2014/main" id="{E69F5D39-E34B-56D9-43DE-32CB7D450781}"/>
              </a:ext>
            </a:extLst>
          </p:cNvPr>
          <p:cNvSpPr txBox="1">
            <a:spLocks/>
          </p:cNvSpPr>
          <p:nvPr/>
        </p:nvSpPr>
        <p:spPr>
          <a:xfrm>
            <a:off x="649151" y="2598228"/>
            <a:ext cx="25014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Open Sans"/>
              <a:buAutoNum type="arabi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rabi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rabi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alpha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4055"/>
              </a:buClr>
              <a:buSzPts val="1200"/>
              <a:buFont typeface="Muli"/>
              <a:buAutoNum type="romanLcPeriod"/>
              <a:defRPr sz="1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Men's Street Footwear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Men's Athletic Footwear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Women's Street Footwear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Women's Athletic Footwear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Men's Apparel </a:t>
            </a:r>
          </a:p>
          <a:p>
            <a:pPr marL="0" indent="0">
              <a:spcBef>
                <a:spcPts val="300"/>
              </a:spcBef>
              <a:spcAft>
                <a:spcPts val="300"/>
              </a:spcAft>
              <a:buFont typeface="Open Sans"/>
              <a:buNone/>
            </a:pPr>
            <a:r>
              <a:rPr lang="en-US" sz="1100" dirty="0">
                <a:solidFill>
                  <a:schemeClr val="tx1"/>
                </a:solidFill>
                <a:latin typeface="Nanum Gothic" panose="020B0604020202020204" charset="-127"/>
                <a:ea typeface="Nanum Gothic" panose="020B0604020202020204" charset="-127"/>
              </a:rPr>
              <a:t>- Women's Apparel</a:t>
            </a:r>
          </a:p>
        </p:txBody>
      </p:sp>
      <p:sp>
        <p:nvSpPr>
          <p:cNvPr id="3" name="Google Shape;1153;p36">
            <a:extLst>
              <a:ext uri="{FF2B5EF4-FFF2-40B4-BE49-F238E27FC236}">
                <a16:creationId xmlns:a16="http://schemas.microsoft.com/office/drawing/2014/main" id="{69B5A142-AA41-876C-B603-23237C7A4B7F}"/>
              </a:ext>
            </a:extLst>
          </p:cNvPr>
          <p:cNvSpPr txBox="1">
            <a:spLocks/>
          </p:cNvSpPr>
          <p:nvPr/>
        </p:nvSpPr>
        <p:spPr>
          <a:xfrm>
            <a:off x="658471" y="2106044"/>
            <a:ext cx="2501400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lt2"/>
                </a:solidFill>
              </a:rPr>
              <a:t>Unique </a:t>
            </a:r>
            <a:r>
              <a:rPr lang="en-US" dirty="0"/>
              <a:t>Products</a:t>
            </a:r>
          </a:p>
        </p:txBody>
      </p:sp>
      <p:sp>
        <p:nvSpPr>
          <p:cNvPr id="9" name="Google Shape;1154;p36">
            <a:extLst>
              <a:ext uri="{FF2B5EF4-FFF2-40B4-BE49-F238E27FC236}">
                <a16:creationId xmlns:a16="http://schemas.microsoft.com/office/drawing/2014/main" id="{B7CC232A-D96A-9F76-D126-6E2040D0779E}"/>
              </a:ext>
            </a:extLst>
          </p:cNvPr>
          <p:cNvSpPr txBox="1">
            <a:spLocks/>
          </p:cNvSpPr>
          <p:nvPr/>
        </p:nvSpPr>
        <p:spPr>
          <a:xfrm>
            <a:off x="3145045" y="2106044"/>
            <a:ext cx="2501400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lt2"/>
                </a:solidFill>
              </a:rPr>
              <a:t>Unique</a:t>
            </a:r>
            <a:r>
              <a:rPr lang="en-US" dirty="0">
                <a:solidFill>
                  <a:srgbClr val="00C784"/>
                </a:solidFill>
              </a:rPr>
              <a:t> </a:t>
            </a:r>
            <a:r>
              <a:rPr lang="en-US" dirty="0"/>
              <a:t>Retailers</a:t>
            </a:r>
          </a:p>
        </p:txBody>
      </p:sp>
      <p:sp>
        <p:nvSpPr>
          <p:cNvPr id="10" name="Google Shape;1155;p36">
            <a:extLst>
              <a:ext uri="{FF2B5EF4-FFF2-40B4-BE49-F238E27FC236}">
                <a16:creationId xmlns:a16="http://schemas.microsoft.com/office/drawing/2014/main" id="{41D1A99D-5966-267D-E0EE-20C5AC16293B}"/>
              </a:ext>
            </a:extLst>
          </p:cNvPr>
          <p:cNvSpPr txBox="1">
            <a:spLocks/>
          </p:cNvSpPr>
          <p:nvPr/>
        </p:nvSpPr>
        <p:spPr>
          <a:xfrm>
            <a:off x="5763118" y="2063250"/>
            <a:ext cx="3120178" cy="5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lt2"/>
                </a:solidFill>
              </a:rPr>
              <a:t>Unique</a:t>
            </a:r>
            <a:r>
              <a:rPr lang="en-US" dirty="0">
                <a:solidFill>
                  <a:srgbClr val="00C784"/>
                </a:solidFill>
              </a:rPr>
              <a:t> </a:t>
            </a:r>
            <a:r>
              <a:rPr lang="en-US" dirty="0"/>
              <a:t>Sales Method</a:t>
            </a:r>
          </a:p>
        </p:txBody>
      </p:sp>
      <p:grpSp>
        <p:nvGrpSpPr>
          <p:cNvPr id="11" name="Google Shape;1161;p36">
            <a:extLst>
              <a:ext uri="{FF2B5EF4-FFF2-40B4-BE49-F238E27FC236}">
                <a16:creationId xmlns:a16="http://schemas.microsoft.com/office/drawing/2014/main" id="{9E66B183-DE32-1DF0-20B8-ED839B8664F5}"/>
              </a:ext>
            </a:extLst>
          </p:cNvPr>
          <p:cNvGrpSpPr/>
          <p:nvPr/>
        </p:nvGrpSpPr>
        <p:grpSpPr>
          <a:xfrm>
            <a:off x="5823008" y="1415386"/>
            <a:ext cx="622281" cy="621772"/>
            <a:chOff x="7338877" y="4227149"/>
            <a:chExt cx="376661" cy="376353"/>
          </a:xfrm>
        </p:grpSpPr>
        <p:sp>
          <p:nvSpPr>
            <p:cNvPr id="12" name="Google Shape;1162;p36">
              <a:extLst>
                <a:ext uri="{FF2B5EF4-FFF2-40B4-BE49-F238E27FC236}">
                  <a16:creationId xmlns:a16="http://schemas.microsoft.com/office/drawing/2014/main" id="{E66BF9FF-E9A7-F5C0-5F93-7EFBC99458E8}"/>
                </a:ext>
              </a:extLst>
            </p:cNvPr>
            <p:cNvSpPr/>
            <p:nvPr/>
          </p:nvSpPr>
          <p:spPr>
            <a:xfrm>
              <a:off x="7338877" y="4227149"/>
              <a:ext cx="376661" cy="376353"/>
            </a:xfrm>
            <a:custGeom>
              <a:avLst/>
              <a:gdLst/>
              <a:ahLst/>
              <a:cxnLst/>
              <a:rect l="l" t="t" r="r" b="b"/>
              <a:pathLst>
                <a:path w="17119" h="17105" extrusionOk="0">
                  <a:moveTo>
                    <a:pt x="10000" y="666"/>
                  </a:moveTo>
                  <a:lnTo>
                    <a:pt x="10000" y="1603"/>
                  </a:lnTo>
                  <a:cubicBezTo>
                    <a:pt x="10000" y="1862"/>
                    <a:pt x="9782" y="2065"/>
                    <a:pt x="9524" y="2065"/>
                  </a:cubicBezTo>
                  <a:lnTo>
                    <a:pt x="8723" y="2065"/>
                  </a:lnTo>
                  <a:cubicBezTo>
                    <a:pt x="8545" y="2065"/>
                    <a:pt x="8397" y="2215"/>
                    <a:pt x="8397" y="2405"/>
                  </a:cubicBezTo>
                  <a:cubicBezTo>
                    <a:pt x="8397" y="2595"/>
                    <a:pt x="8545" y="2744"/>
                    <a:pt x="8723" y="2744"/>
                  </a:cubicBezTo>
                  <a:lnTo>
                    <a:pt x="9565" y="2744"/>
                  </a:lnTo>
                  <a:lnTo>
                    <a:pt x="9565" y="3559"/>
                  </a:lnTo>
                  <a:lnTo>
                    <a:pt x="4877" y="3559"/>
                  </a:lnTo>
                  <a:lnTo>
                    <a:pt x="4877" y="2744"/>
                  </a:lnTo>
                  <a:lnTo>
                    <a:pt x="5720" y="2744"/>
                  </a:lnTo>
                  <a:cubicBezTo>
                    <a:pt x="5897" y="2744"/>
                    <a:pt x="6046" y="2595"/>
                    <a:pt x="6046" y="2405"/>
                  </a:cubicBezTo>
                  <a:cubicBezTo>
                    <a:pt x="6046" y="2215"/>
                    <a:pt x="5897" y="2065"/>
                    <a:pt x="5720" y="2065"/>
                  </a:cubicBezTo>
                  <a:lnTo>
                    <a:pt x="4877" y="2065"/>
                  </a:lnTo>
                  <a:cubicBezTo>
                    <a:pt x="4892" y="1291"/>
                    <a:pt x="5516" y="666"/>
                    <a:pt x="6290" y="666"/>
                  </a:cubicBezTo>
                  <a:close/>
                  <a:moveTo>
                    <a:pt x="9565" y="4226"/>
                  </a:moveTo>
                  <a:lnTo>
                    <a:pt x="9565" y="5652"/>
                  </a:lnTo>
                  <a:cubicBezTo>
                    <a:pt x="9565" y="6943"/>
                    <a:pt x="8505" y="7988"/>
                    <a:pt x="7214" y="7988"/>
                  </a:cubicBezTo>
                  <a:cubicBezTo>
                    <a:pt x="5924" y="7988"/>
                    <a:pt x="4877" y="6943"/>
                    <a:pt x="4877" y="5652"/>
                  </a:cubicBezTo>
                  <a:lnTo>
                    <a:pt x="4877" y="4226"/>
                  </a:lnTo>
                  <a:close/>
                  <a:moveTo>
                    <a:pt x="8016" y="8546"/>
                  </a:moveTo>
                  <a:lnTo>
                    <a:pt x="8016" y="8831"/>
                  </a:lnTo>
                  <a:cubicBezTo>
                    <a:pt x="8016" y="9442"/>
                    <a:pt x="8451" y="9945"/>
                    <a:pt x="9022" y="10053"/>
                  </a:cubicBezTo>
                  <a:lnTo>
                    <a:pt x="9022" y="10937"/>
                  </a:lnTo>
                  <a:cubicBezTo>
                    <a:pt x="9022" y="11942"/>
                    <a:pt x="8219" y="12743"/>
                    <a:pt x="7214" y="12743"/>
                  </a:cubicBezTo>
                  <a:cubicBezTo>
                    <a:pt x="6223" y="12743"/>
                    <a:pt x="5421" y="11942"/>
                    <a:pt x="5421" y="10937"/>
                  </a:cubicBezTo>
                  <a:lnTo>
                    <a:pt x="5421" y="10053"/>
                  </a:lnTo>
                  <a:cubicBezTo>
                    <a:pt x="5991" y="9945"/>
                    <a:pt x="6426" y="9442"/>
                    <a:pt x="6426" y="8831"/>
                  </a:cubicBezTo>
                  <a:lnTo>
                    <a:pt x="6426" y="8546"/>
                  </a:lnTo>
                  <a:cubicBezTo>
                    <a:pt x="6685" y="8613"/>
                    <a:pt x="6942" y="8655"/>
                    <a:pt x="7214" y="8655"/>
                  </a:cubicBezTo>
                  <a:cubicBezTo>
                    <a:pt x="7500" y="8655"/>
                    <a:pt x="7758" y="8613"/>
                    <a:pt x="8016" y="8546"/>
                  </a:cubicBezTo>
                  <a:close/>
                  <a:moveTo>
                    <a:pt x="11358" y="10080"/>
                  </a:moveTo>
                  <a:cubicBezTo>
                    <a:pt x="12690" y="10080"/>
                    <a:pt x="13776" y="11167"/>
                    <a:pt x="13776" y="12499"/>
                  </a:cubicBezTo>
                  <a:cubicBezTo>
                    <a:pt x="13776" y="13015"/>
                    <a:pt x="13613" y="13504"/>
                    <a:pt x="13314" y="13912"/>
                  </a:cubicBezTo>
                  <a:cubicBezTo>
                    <a:pt x="13314" y="13926"/>
                    <a:pt x="13300" y="13926"/>
                    <a:pt x="13300" y="13939"/>
                  </a:cubicBezTo>
                  <a:lnTo>
                    <a:pt x="11603" y="13939"/>
                  </a:lnTo>
                  <a:cubicBezTo>
                    <a:pt x="11561" y="13667"/>
                    <a:pt x="11426" y="13437"/>
                    <a:pt x="11250" y="13274"/>
                  </a:cubicBezTo>
                  <a:cubicBezTo>
                    <a:pt x="11100" y="12839"/>
                    <a:pt x="11032" y="12377"/>
                    <a:pt x="11032" y="11915"/>
                  </a:cubicBezTo>
                  <a:lnTo>
                    <a:pt x="11032" y="10080"/>
                  </a:lnTo>
                  <a:close/>
                  <a:moveTo>
                    <a:pt x="13844" y="14605"/>
                  </a:moveTo>
                  <a:lnTo>
                    <a:pt x="13844" y="15474"/>
                  </a:lnTo>
                  <a:lnTo>
                    <a:pt x="11616" y="15474"/>
                  </a:lnTo>
                  <a:lnTo>
                    <a:pt x="11616" y="14605"/>
                  </a:lnTo>
                  <a:close/>
                  <a:moveTo>
                    <a:pt x="10475" y="13640"/>
                  </a:moveTo>
                  <a:cubicBezTo>
                    <a:pt x="10733" y="13640"/>
                    <a:pt x="10937" y="13844"/>
                    <a:pt x="10937" y="14102"/>
                  </a:cubicBezTo>
                  <a:lnTo>
                    <a:pt x="10937" y="15976"/>
                  </a:lnTo>
                  <a:cubicBezTo>
                    <a:pt x="10937" y="16235"/>
                    <a:pt x="10733" y="16438"/>
                    <a:pt x="10475" y="16438"/>
                  </a:cubicBezTo>
                  <a:lnTo>
                    <a:pt x="9483" y="16438"/>
                  </a:lnTo>
                  <a:cubicBezTo>
                    <a:pt x="9225" y="16438"/>
                    <a:pt x="9022" y="16235"/>
                    <a:pt x="9022" y="15976"/>
                  </a:cubicBezTo>
                  <a:lnTo>
                    <a:pt x="9022" y="14102"/>
                  </a:lnTo>
                  <a:cubicBezTo>
                    <a:pt x="9022" y="13844"/>
                    <a:pt x="9225" y="13640"/>
                    <a:pt x="9483" y="13640"/>
                  </a:cubicBezTo>
                  <a:close/>
                  <a:moveTo>
                    <a:pt x="15977" y="13640"/>
                  </a:moveTo>
                  <a:cubicBezTo>
                    <a:pt x="16235" y="13640"/>
                    <a:pt x="16452" y="13844"/>
                    <a:pt x="16452" y="14102"/>
                  </a:cubicBezTo>
                  <a:lnTo>
                    <a:pt x="16452" y="15976"/>
                  </a:lnTo>
                  <a:cubicBezTo>
                    <a:pt x="16452" y="16235"/>
                    <a:pt x="16235" y="16438"/>
                    <a:pt x="15977" y="16438"/>
                  </a:cubicBezTo>
                  <a:lnTo>
                    <a:pt x="14972" y="16438"/>
                  </a:lnTo>
                  <a:cubicBezTo>
                    <a:pt x="14713" y="16438"/>
                    <a:pt x="14510" y="16235"/>
                    <a:pt x="14510" y="15976"/>
                  </a:cubicBezTo>
                  <a:lnTo>
                    <a:pt x="14510" y="14102"/>
                  </a:lnTo>
                  <a:cubicBezTo>
                    <a:pt x="14510" y="13844"/>
                    <a:pt x="14713" y="13640"/>
                    <a:pt x="14972" y="13640"/>
                  </a:cubicBezTo>
                  <a:close/>
                  <a:moveTo>
                    <a:pt x="6290" y="0"/>
                  </a:moveTo>
                  <a:cubicBezTo>
                    <a:pt x="5149" y="0"/>
                    <a:pt x="4212" y="938"/>
                    <a:pt x="4212" y="2079"/>
                  </a:cubicBezTo>
                  <a:lnTo>
                    <a:pt x="4212" y="5652"/>
                  </a:lnTo>
                  <a:cubicBezTo>
                    <a:pt x="4212" y="6780"/>
                    <a:pt x="4837" y="7758"/>
                    <a:pt x="5761" y="8274"/>
                  </a:cubicBezTo>
                  <a:lnTo>
                    <a:pt x="5761" y="8831"/>
                  </a:lnTo>
                  <a:cubicBezTo>
                    <a:pt x="5761" y="9157"/>
                    <a:pt x="5502" y="9415"/>
                    <a:pt x="5176" y="9415"/>
                  </a:cubicBezTo>
                  <a:lnTo>
                    <a:pt x="3084" y="9415"/>
                  </a:lnTo>
                  <a:cubicBezTo>
                    <a:pt x="1387" y="9415"/>
                    <a:pt x="1" y="10801"/>
                    <a:pt x="1" y="12499"/>
                  </a:cubicBezTo>
                  <a:cubicBezTo>
                    <a:pt x="1" y="13083"/>
                    <a:pt x="164" y="13654"/>
                    <a:pt x="476" y="14143"/>
                  </a:cubicBezTo>
                  <a:cubicBezTo>
                    <a:pt x="340" y="14523"/>
                    <a:pt x="258" y="14917"/>
                    <a:pt x="258" y="15324"/>
                  </a:cubicBezTo>
                  <a:cubicBezTo>
                    <a:pt x="258" y="15882"/>
                    <a:pt x="408" y="16453"/>
                    <a:pt x="680" y="16942"/>
                  </a:cubicBezTo>
                  <a:cubicBezTo>
                    <a:pt x="747" y="17050"/>
                    <a:pt x="856" y="17105"/>
                    <a:pt x="979" y="17105"/>
                  </a:cubicBezTo>
                  <a:cubicBezTo>
                    <a:pt x="1033" y="17105"/>
                    <a:pt x="1088" y="17090"/>
                    <a:pt x="1142" y="17063"/>
                  </a:cubicBezTo>
                  <a:cubicBezTo>
                    <a:pt x="1305" y="16982"/>
                    <a:pt x="1359" y="16779"/>
                    <a:pt x="1264" y="16616"/>
                  </a:cubicBezTo>
                  <a:cubicBezTo>
                    <a:pt x="1046" y="16221"/>
                    <a:pt x="938" y="15773"/>
                    <a:pt x="938" y="15324"/>
                  </a:cubicBezTo>
                  <a:cubicBezTo>
                    <a:pt x="938" y="14944"/>
                    <a:pt x="1006" y="14591"/>
                    <a:pt x="1155" y="14238"/>
                  </a:cubicBezTo>
                  <a:cubicBezTo>
                    <a:pt x="1209" y="14129"/>
                    <a:pt x="1196" y="14007"/>
                    <a:pt x="1128" y="13912"/>
                  </a:cubicBezTo>
                  <a:cubicBezTo>
                    <a:pt x="829" y="13504"/>
                    <a:pt x="666" y="13015"/>
                    <a:pt x="666" y="12499"/>
                  </a:cubicBezTo>
                  <a:cubicBezTo>
                    <a:pt x="666" y="11167"/>
                    <a:pt x="1753" y="10080"/>
                    <a:pt x="3084" y="10080"/>
                  </a:cubicBezTo>
                  <a:lnTo>
                    <a:pt x="3410" y="10080"/>
                  </a:lnTo>
                  <a:lnTo>
                    <a:pt x="3410" y="11915"/>
                  </a:lnTo>
                  <a:cubicBezTo>
                    <a:pt x="3410" y="12567"/>
                    <a:pt x="3261" y="13205"/>
                    <a:pt x="2990" y="13790"/>
                  </a:cubicBezTo>
                  <a:cubicBezTo>
                    <a:pt x="2975" y="13830"/>
                    <a:pt x="2962" y="13884"/>
                    <a:pt x="2962" y="13926"/>
                  </a:cubicBezTo>
                  <a:lnTo>
                    <a:pt x="2962" y="16779"/>
                  </a:lnTo>
                  <a:cubicBezTo>
                    <a:pt x="2962" y="16955"/>
                    <a:pt x="3111" y="17105"/>
                    <a:pt x="3288" y="17105"/>
                  </a:cubicBezTo>
                  <a:cubicBezTo>
                    <a:pt x="3479" y="17105"/>
                    <a:pt x="3628" y="16955"/>
                    <a:pt x="3628" y="16779"/>
                  </a:cubicBezTo>
                  <a:lnTo>
                    <a:pt x="3628" y="14007"/>
                  </a:lnTo>
                  <a:cubicBezTo>
                    <a:pt x="3926" y="13355"/>
                    <a:pt x="4076" y="12634"/>
                    <a:pt x="4076" y="11915"/>
                  </a:cubicBezTo>
                  <a:lnTo>
                    <a:pt x="4076" y="10080"/>
                  </a:lnTo>
                  <a:lnTo>
                    <a:pt x="4742" y="10080"/>
                  </a:lnTo>
                  <a:lnTo>
                    <a:pt x="4742" y="10937"/>
                  </a:lnTo>
                  <a:cubicBezTo>
                    <a:pt x="4742" y="12308"/>
                    <a:pt x="5856" y="13409"/>
                    <a:pt x="7214" y="13409"/>
                  </a:cubicBezTo>
                  <a:cubicBezTo>
                    <a:pt x="8587" y="13409"/>
                    <a:pt x="9701" y="12308"/>
                    <a:pt x="9701" y="10937"/>
                  </a:cubicBezTo>
                  <a:lnTo>
                    <a:pt x="9701" y="10080"/>
                  </a:lnTo>
                  <a:lnTo>
                    <a:pt x="10366" y="10080"/>
                  </a:lnTo>
                  <a:lnTo>
                    <a:pt x="10366" y="11915"/>
                  </a:lnTo>
                  <a:cubicBezTo>
                    <a:pt x="10366" y="12268"/>
                    <a:pt x="10393" y="12621"/>
                    <a:pt x="10475" y="12961"/>
                  </a:cubicBezTo>
                  <a:lnTo>
                    <a:pt x="9483" y="12961"/>
                  </a:lnTo>
                  <a:cubicBezTo>
                    <a:pt x="8858" y="12961"/>
                    <a:pt x="8355" y="13477"/>
                    <a:pt x="8355" y="14102"/>
                  </a:cubicBezTo>
                  <a:lnTo>
                    <a:pt x="8355" y="15976"/>
                  </a:lnTo>
                  <a:cubicBezTo>
                    <a:pt x="8355" y="16601"/>
                    <a:pt x="8858" y="17105"/>
                    <a:pt x="9483" y="17105"/>
                  </a:cubicBezTo>
                  <a:lnTo>
                    <a:pt x="10475" y="17105"/>
                  </a:lnTo>
                  <a:cubicBezTo>
                    <a:pt x="11045" y="17105"/>
                    <a:pt x="11521" y="16683"/>
                    <a:pt x="11603" y="16140"/>
                  </a:cubicBezTo>
                  <a:lnTo>
                    <a:pt x="13382" y="16140"/>
                  </a:lnTo>
                  <a:cubicBezTo>
                    <a:pt x="13328" y="16303"/>
                    <a:pt x="13260" y="16466"/>
                    <a:pt x="13179" y="16616"/>
                  </a:cubicBezTo>
                  <a:cubicBezTo>
                    <a:pt x="13083" y="16779"/>
                    <a:pt x="13137" y="16982"/>
                    <a:pt x="13300" y="17063"/>
                  </a:cubicBezTo>
                  <a:cubicBezTo>
                    <a:pt x="13355" y="17090"/>
                    <a:pt x="13409" y="17105"/>
                    <a:pt x="13463" y="17105"/>
                  </a:cubicBezTo>
                  <a:cubicBezTo>
                    <a:pt x="13586" y="17105"/>
                    <a:pt x="13695" y="17050"/>
                    <a:pt x="13762" y="16942"/>
                  </a:cubicBezTo>
                  <a:cubicBezTo>
                    <a:pt x="13844" y="16792"/>
                    <a:pt x="13912" y="16643"/>
                    <a:pt x="13967" y="16493"/>
                  </a:cubicBezTo>
                  <a:cubicBezTo>
                    <a:pt x="14157" y="16860"/>
                    <a:pt x="14537" y="17105"/>
                    <a:pt x="14972" y="17105"/>
                  </a:cubicBezTo>
                  <a:lnTo>
                    <a:pt x="15977" y="17105"/>
                  </a:lnTo>
                  <a:cubicBezTo>
                    <a:pt x="16602" y="17105"/>
                    <a:pt x="17118" y="16601"/>
                    <a:pt x="17118" y="15976"/>
                  </a:cubicBezTo>
                  <a:lnTo>
                    <a:pt x="17118" y="14102"/>
                  </a:lnTo>
                  <a:cubicBezTo>
                    <a:pt x="17118" y="13477"/>
                    <a:pt x="16602" y="12961"/>
                    <a:pt x="15977" y="12961"/>
                  </a:cubicBezTo>
                  <a:lnTo>
                    <a:pt x="14972" y="12961"/>
                  </a:lnTo>
                  <a:cubicBezTo>
                    <a:pt x="14755" y="12961"/>
                    <a:pt x="14550" y="13029"/>
                    <a:pt x="14374" y="13138"/>
                  </a:cubicBezTo>
                  <a:cubicBezTo>
                    <a:pt x="14414" y="12933"/>
                    <a:pt x="14442" y="12716"/>
                    <a:pt x="14442" y="12499"/>
                  </a:cubicBezTo>
                  <a:cubicBezTo>
                    <a:pt x="14442" y="10801"/>
                    <a:pt x="13056" y="9415"/>
                    <a:pt x="11358" y="9415"/>
                  </a:cubicBezTo>
                  <a:lnTo>
                    <a:pt x="9266" y="9415"/>
                  </a:lnTo>
                  <a:cubicBezTo>
                    <a:pt x="8940" y="9415"/>
                    <a:pt x="8681" y="9157"/>
                    <a:pt x="8681" y="8831"/>
                  </a:cubicBezTo>
                  <a:lnTo>
                    <a:pt x="8681" y="8274"/>
                  </a:lnTo>
                  <a:cubicBezTo>
                    <a:pt x="9605" y="7758"/>
                    <a:pt x="10230" y="6780"/>
                    <a:pt x="10230" y="5652"/>
                  </a:cubicBezTo>
                  <a:lnTo>
                    <a:pt x="10230" y="2500"/>
                  </a:lnTo>
                  <a:cubicBezTo>
                    <a:pt x="10489" y="2282"/>
                    <a:pt x="10665" y="1970"/>
                    <a:pt x="10665" y="1603"/>
                  </a:cubicBezTo>
                  <a:lnTo>
                    <a:pt x="10665" y="326"/>
                  </a:lnTo>
                  <a:cubicBezTo>
                    <a:pt x="10665" y="150"/>
                    <a:pt x="10516" y="0"/>
                    <a:pt x="10326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63;p36">
              <a:extLst>
                <a:ext uri="{FF2B5EF4-FFF2-40B4-BE49-F238E27FC236}">
                  <a16:creationId xmlns:a16="http://schemas.microsoft.com/office/drawing/2014/main" id="{794FD0F2-332B-B6C8-14D0-540AEC288DAB}"/>
                </a:ext>
              </a:extLst>
            </p:cNvPr>
            <p:cNvSpPr/>
            <p:nvPr/>
          </p:nvSpPr>
          <p:spPr>
            <a:xfrm>
              <a:off x="7490430" y="4272584"/>
              <a:ext cx="14676" cy="14962"/>
            </a:xfrm>
            <a:custGeom>
              <a:avLst/>
              <a:gdLst/>
              <a:ahLst/>
              <a:cxnLst/>
              <a:rect l="l" t="t" r="r" b="b"/>
              <a:pathLst>
                <a:path w="667" h="680" extrusionOk="0">
                  <a:moveTo>
                    <a:pt x="326" y="0"/>
                  </a:moveTo>
                  <a:cubicBezTo>
                    <a:pt x="245" y="0"/>
                    <a:pt x="163" y="41"/>
                    <a:pt x="96" y="109"/>
                  </a:cubicBezTo>
                  <a:cubicBezTo>
                    <a:pt x="27" y="163"/>
                    <a:pt x="0" y="245"/>
                    <a:pt x="0" y="340"/>
                  </a:cubicBezTo>
                  <a:cubicBezTo>
                    <a:pt x="0" y="422"/>
                    <a:pt x="27" y="516"/>
                    <a:pt x="96" y="571"/>
                  </a:cubicBezTo>
                  <a:cubicBezTo>
                    <a:pt x="163" y="639"/>
                    <a:pt x="245" y="679"/>
                    <a:pt x="326" y="679"/>
                  </a:cubicBezTo>
                  <a:cubicBezTo>
                    <a:pt x="422" y="679"/>
                    <a:pt x="503" y="639"/>
                    <a:pt x="571" y="571"/>
                  </a:cubicBezTo>
                  <a:cubicBezTo>
                    <a:pt x="625" y="516"/>
                    <a:pt x="666" y="422"/>
                    <a:pt x="666" y="340"/>
                  </a:cubicBezTo>
                  <a:cubicBezTo>
                    <a:pt x="666" y="245"/>
                    <a:pt x="625" y="163"/>
                    <a:pt x="571" y="109"/>
                  </a:cubicBezTo>
                  <a:cubicBezTo>
                    <a:pt x="503" y="41"/>
                    <a:pt x="422" y="0"/>
                    <a:pt x="326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164;p36">
            <a:extLst>
              <a:ext uri="{FF2B5EF4-FFF2-40B4-BE49-F238E27FC236}">
                <a16:creationId xmlns:a16="http://schemas.microsoft.com/office/drawing/2014/main" id="{8E231332-9A32-2603-8502-E3C64C820D04}"/>
              </a:ext>
            </a:extLst>
          </p:cNvPr>
          <p:cNvGrpSpPr/>
          <p:nvPr/>
        </p:nvGrpSpPr>
        <p:grpSpPr>
          <a:xfrm>
            <a:off x="3071650" y="1411929"/>
            <a:ext cx="622281" cy="622281"/>
            <a:chOff x="3398603" y="2798042"/>
            <a:chExt cx="376661" cy="376661"/>
          </a:xfrm>
        </p:grpSpPr>
        <p:sp>
          <p:nvSpPr>
            <p:cNvPr id="15" name="Google Shape;1165;p36">
              <a:extLst>
                <a:ext uri="{FF2B5EF4-FFF2-40B4-BE49-F238E27FC236}">
                  <a16:creationId xmlns:a16="http://schemas.microsoft.com/office/drawing/2014/main" id="{D5E08BC4-A32E-83B6-C145-8E75796761E1}"/>
                </a:ext>
              </a:extLst>
            </p:cNvPr>
            <p:cNvSpPr/>
            <p:nvPr/>
          </p:nvSpPr>
          <p:spPr>
            <a:xfrm>
              <a:off x="3655372" y="3036131"/>
              <a:ext cx="45457" cy="34236"/>
            </a:xfrm>
            <a:custGeom>
              <a:avLst/>
              <a:gdLst/>
              <a:ahLst/>
              <a:cxnLst/>
              <a:rect l="l" t="t" r="r" b="b"/>
              <a:pathLst>
                <a:path w="2066" h="1556" extrusionOk="0">
                  <a:moveTo>
                    <a:pt x="1701" y="1"/>
                  </a:moveTo>
                  <a:cubicBezTo>
                    <a:pt x="1614" y="1"/>
                    <a:pt x="1529" y="35"/>
                    <a:pt x="1468" y="103"/>
                  </a:cubicBezTo>
                  <a:lnTo>
                    <a:pt x="830" y="740"/>
                  </a:lnTo>
                  <a:lnTo>
                    <a:pt x="598" y="523"/>
                  </a:lnTo>
                  <a:cubicBezTo>
                    <a:pt x="537" y="455"/>
                    <a:pt x="452" y="421"/>
                    <a:pt x="366" y="421"/>
                  </a:cubicBezTo>
                  <a:cubicBezTo>
                    <a:pt x="279" y="421"/>
                    <a:pt x="191" y="455"/>
                    <a:pt x="123" y="523"/>
                  </a:cubicBezTo>
                  <a:cubicBezTo>
                    <a:pt x="0" y="659"/>
                    <a:pt x="0" y="863"/>
                    <a:pt x="123" y="999"/>
                  </a:cubicBezTo>
                  <a:lnTo>
                    <a:pt x="585" y="1461"/>
                  </a:lnTo>
                  <a:cubicBezTo>
                    <a:pt x="652" y="1515"/>
                    <a:pt x="734" y="1556"/>
                    <a:pt x="830" y="1556"/>
                  </a:cubicBezTo>
                  <a:cubicBezTo>
                    <a:pt x="911" y="1556"/>
                    <a:pt x="993" y="1515"/>
                    <a:pt x="1060" y="1461"/>
                  </a:cubicBezTo>
                  <a:lnTo>
                    <a:pt x="1944" y="577"/>
                  </a:lnTo>
                  <a:cubicBezTo>
                    <a:pt x="2065" y="442"/>
                    <a:pt x="2065" y="238"/>
                    <a:pt x="1944" y="103"/>
                  </a:cubicBezTo>
                  <a:cubicBezTo>
                    <a:pt x="1876" y="35"/>
                    <a:pt x="1787" y="1"/>
                    <a:pt x="1701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66;p36">
              <a:extLst>
                <a:ext uri="{FF2B5EF4-FFF2-40B4-BE49-F238E27FC236}">
                  <a16:creationId xmlns:a16="http://schemas.microsoft.com/office/drawing/2014/main" id="{2C646701-B616-4FB9-4D36-BA22A4DCDCDE}"/>
                </a:ext>
              </a:extLst>
            </p:cNvPr>
            <p:cNvSpPr/>
            <p:nvPr/>
          </p:nvSpPr>
          <p:spPr>
            <a:xfrm>
              <a:off x="3655966" y="3090984"/>
              <a:ext cx="44269" cy="43961"/>
            </a:xfrm>
            <a:custGeom>
              <a:avLst/>
              <a:gdLst/>
              <a:ahLst/>
              <a:cxnLst/>
              <a:rect l="l" t="t" r="r" b="b"/>
              <a:pathLst>
                <a:path w="2012" h="1998" extrusionOk="0">
                  <a:moveTo>
                    <a:pt x="1346" y="666"/>
                  </a:moveTo>
                  <a:lnTo>
                    <a:pt x="1346" y="1332"/>
                  </a:lnTo>
                  <a:lnTo>
                    <a:pt x="667" y="1332"/>
                  </a:lnTo>
                  <a:lnTo>
                    <a:pt x="667" y="666"/>
                  </a:lnTo>
                  <a:close/>
                  <a:moveTo>
                    <a:pt x="341" y="1"/>
                  </a:moveTo>
                  <a:cubicBezTo>
                    <a:pt x="150" y="1"/>
                    <a:pt x="0" y="149"/>
                    <a:pt x="0" y="327"/>
                  </a:cubicBezTo>
                  <a:lnTo>
                    <a:pt x="0" y="1671"/>
                  </a:lnTo>
                  <a:cubicBezTo>
                    <a:pt x="0" y="1848"/>
                    <a:pt x="150" y="1997"/>
                    <a:pt x="341" y="1997"/>
                  </a:cubicBezTo>
                  <a:lnTo>
                    <a:pt x="1672" y="1997"/>
                  </a:lnTo>
                  <a:cubicBezTo>
                    <a:pt x="1862" y="1997"/>
                    <a:pt x="2011" y="1848"/>
                    <a:pt x="2011" y="1671"/>
                  </a:cubicBezTo>
                  <a:lnTo>
                    <a:pt x="2011" y="327"/>
                  </a:lnTo>
                  <a:cubicBezTo>
                    <a:pt x="2011" y="149"/>
                    <a:pt x="1862" y="1"/>
                    <a:pt x="1672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67;p36">
              <a:extLst>
                <a:ext uri="{FF2B5EF4-FFF2-40B4-BE49-F238E27FC236}">
                  <a16:creationId xmlns:a16="http://schemas.microsoft.com/office/drawing/2014/main" id="{A5DDC3A3-599C-D4A5-F74E-5D04729ABAB9}"/>
                </a:ext>
              </a:extLst>
            </p:cNvPr>
            <p:cNvSpPr/>
            <p:nvPr/>
          </p:nvSpPr>
          <p:spPr>
            <a:xfrm>
              <a:off x="3722326" y="3090984"/>
              <a:ext cx="23345" cy="14654"/>
            </a:xfrm>
            <a:custGeom>
              <a:avLst/>
              <a:gdLst/>
              <a:ahLst/>
              <a:cxnLst/>
              <a:rect l="l" t="t" r="r" b="b"/>
              <a:pathLst>
                <a:path w="1061" h="666" extrusionOk="0">
                  <a:moveTo>
                    <a:pt x="326" y="1"/>
                  </a:moveTo>
                  <a:cubicBezTo>
                    <a:pt x="150" y="1"/>
                    <a:pt x="0" y="149"/>
                    <a:pt x="0" y="327"/>
                  </a:cubicBezTo>
                  <a:cubicBezTo>
                    <a:pt x="0" y="517"/>
                    <a:pt x="150" y="666"/>
                    <a:pt x="326" y="666"/>
                  </a:cubicBezTo>
                  <a:lnTo>
                    <a:pt x="734" y="666"/>
                  </a:lnTo>
                  <a:cubicBezTo>
                    <a:pt x="911" y="666"/>
                    <a:pt x="1060" y="517"/>
                    <a:pt x="1060" y="327"/>
                  </a:cubicBezTo>
                  <a:cubicBezTo>
                    <a:pt x="1060" y="149"/>
                    <a:pt x="911" y="1"/>
                    <a:pt x="734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68;p36">
              <a:extLst>
                <a:ext uri="{FF2B5EF4-FFF2-40B4-BE49-F238E27FC236}">
                  <a16:creationId xmlns:a16="http://schemas.microsoft.com/office/drawing/2014/main" id="{F52BBDB6-CC24-5D8F-6503-E498383DCF5A}"/>
                </a:ext>
              </a:extLst>
            </p:cNvPr>
            <p:cNvSpPr/>
            <p:nvPr/>
          </p:nvSpPr>
          <p:spPr>
            <a:xfrm>
              <a:off x="3722326" y="3120269"/>
              <a:ext cx="23345" cy="14676"/>
            </a:xfrm>
            <a:custGeom>
              <a:avLst/>
              <a:gdLst/>
              <a:ahLst/>
              <a:cxnLst/>
              <a:rect l="l" t="t" r="r" b="b"/>
              <a:pathLst>
                <a:path w="1061" h="667" extrusionOk="0">
                  <a:moveTo>
                    <a:pt x="326" y="1"/>
                  </a:moveTo>
                  <a:cubicBezTo>
                    <a:pt x="150" y="1"/>
                    <a:pt x="0" y="150"/>
                    <a:pt x="0" y="340"/>
                  </a:cubicBezTo>
                  <a:cubicBezTo>
                    <a:pt x="0" y="517"/>
                    <a:pt x="150" y="666"/>
                    <a:pt x="326" y="666"/>
                  </a:cubicBezTo>
                  <a:lnTo>
                    <a:pt x="734" y="666"/>
                  </a:lnTo>
                  <a:cubicBezTo>
                    <a:pt x="911" y="666"/>
                    <a:pt x="1060" y="517"/>
                    <a:pt x="1060" y="340"/>
                  </a:cubicBezTo>
                  <a:cubicBezTo>
                    <a:pt x="1060" y="150"/>
                    <a:pt x="911" y="1"/>
                    <a:pt x="734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69;p36">
              <a:extLst>
                <a:ext uri="{FF2B5EF4-FFF2-40B4-BE49-F238E27FC236}">
                  <a16:creationId xmlns:a16="http://schemas.microsoft.com/office/drawing/2014/main" id="{C29DEA6D-795F-8D4A-01A3-446E025F6860}"/>
                </a:ext>
              </a:extLst>
            </p:cNvPr>
            <p:cNvSpPr/>
            <p:nvPr/>
          </p:nvSpPr>
          <p:spPr>
            <a:xfrm>
              <a:off x="3722326" y="3032083"/>
              <a:ext cx="23345" cy="14676"/>
            </a:xfrm>
            <a:custGeom>
              <a:avLst/>
              <a:gdLst/>
              <a:ahLst/>
              <a:cxnLst/>
              <a:rect l="l" t="t" r="r" b="b"/>
              <a:pathLst>
                <a:path w="1061" h="667" extrusionOk="0">
                  <a:moveTo>
                    <a:pt x="326" y="1"/>
                  </a:moveTo>
                  <a:cubicBezTo>
                    <a:pt x="150" y="1"/>
                    <a:pt x="0" y="151"/>
                    <a:pt x="0" y="327"/>
                  </a:cubicBezTo>
                  <a:cubicBezTo>
                    <a:pt x="0" y="517"/>
                    <a:pt x="150" y="667"/>
                    <a:pt x="326" y="667"/>
                  </a:cubicBezTo>
                  <a:lnTo>
                    <a:pt x="734" y="667"/>
                  </a:lnTo>
                  <a:cubicBezTo>
                    <a:pt x="911" y="667"/>
                    <a:pt x="1060" y="517"/>
                    <a:pt x="1060" y="327"/>
                  </a:cubicBezTo>
                  <a:cubicBezTo>
                    <a:pt x="1060" y="151"/>
                    <a:pt x="911" y="1"/>
                    <a:pt x="734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70;p36">
              <a:extLst>
                <a:ext uri="{FF2B5EF4-FFF2-40B4-BE49-F238E27FC236}">
                  <a16:creationId xmlns:a16="http://schemas.microsoft.com/office/drawing/2014/main" id="{D01AA480-3D90-0CBF-7E11-B6B503CE15FE}"/>
                </a:ext>
              </a:extLst>
            </p:cNvPr>
            <p:cNvSpPr/>
            <p:nvPr/>
          </p:nvSpPr>
          <p:spPr>
            <a:xfrm>
              <a:off x="3722326" y="3061390"/>
              <a:ext cx="23345" cy="14676"/>
            </a:xfrm>
            <a:custGeom>
              <a:avLst/>
              <a:gdLst/>
              <a:ahLst/>
              <a:cxnLst/>
              <a:rect l="l" t="t" r="r" b="b"/>
              <a:pathLst>
                <a:path w="1061" h="667" extrusionOk="0">
                  <a:moveTo>
                    <a:pt x="326" y="0"/>
                  </a:moveTo>
                  <a:cubicBezTo>
                    <a:pt x="150" y="0"/>
                    <a:pt x="0" y="150"/>
                    <a:pt x="0" y="340"/>
                  </a:cubicBezTo>
                  <a:cubicBezTo>
                    <a:pt x="0" y="516"/>
                    <a:pt x="150" y="666"/>
                    <a:pt x="326" y="666"/>
                  </a:cubicBezTo>
                  <a:lnTo>
                    <a:pt x="734" y="666"/>
                  </a:lnTo>
                  <a:cubicBezTo>
                    <a:pt x="911" y="666"/>
                    <a:pt x="1060" y="516"/>
                    <a:pt x="1060" y="340"/>
                  </a:cubicBezTo>
                  <a:cubicBezTo>
                    <a:pt x="1060" y="150"/>
                    <a:pt x="911" y="0"/>
                    <a:pt x="734" y="0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71;p36">
              <a:extLst>
                <a:ext uri="{FF2B5EF4-FFF2-40B4-BE49-F238E27FC236}">
                  <a16:creationId xmlns:a16="http://schemas.microsoft.com/office/drawing/2014/main" id="{39031836-BC06-2C5C-A0C1-682488D96E46}"/>
                </a:ext>
              </a:extLst>
            </p:cNvPr>
            <p:cNvSpPr/>
            <p:nvPr/>
          </p:nvSpPr>
          <p:spPr>
            <a:xfrm>
              <a:off x="3626681" y="3074834"/>
              <a:ext cx="14676" cy="14676"/>
            </a:xfrm>
            <a:custGeom>
              <a:avLst/>
              <a:gdLst/>
              <a:ahLst/>
              <a:cxnLst/>
              <a:rect l="l" t="t" r="r" b="b"/>
              <a:pathLst>
                <a:path w="667" h="667" extrusionOk="0">
                  <a:moveTo>
                    <a:pt x="326" y="1"/>
                  </a:moveTo>
                  <a:cubicBezTo>
                    <a:pt x="245" y="1"/>
                    <a:pt x="163" y="28"/>
                    <a:pt x="96" y="95"/>
                  </a:cubicBezTo>
                  <a:cubicBezTo>
                    <a:pt x="27" y="150"/>
                    <a:pt x="0" y="245"/>
                    <a:pt x="0" y="327"/>
                  </a:cubicBezTo>
                  <a:cubicBezTo>
                    <a:pt x="0" y="422"/>
                    <a:pt x="27" y="503"/>
                    <a:pt x="96" y="572"/>
                  </a:cubicBezTo>
                  <a:cubicBezTo>
                    <a:pt x="163" y="626"/>
                    <a:pt x="245" y="666"/>
                    <a:pt x="326" y="666"/>
                  </a:cubicBezTo>
                  <a:cubicBezTo>
                    <a:pt x="422" y="666"/>
                    <a:pt x="503" y="626"/>
                    <a:pt x="571" y="572"/>
                  </a:cubicBezTo>
                  <a:cubicBezTo>
                    <a:pt x="625" y="503"/>
                    <a:pt x="666" y="422"/>
                    <a:pt x="666" y="327"/>
                  </a:cubicBezTo>
                  <a:cubicBezTo>
                    <a:pt x="666" y="245"/>
                    <a:pt x="625" y="150"/>
                    <a:pt x="571" y="95"/>
                  </a:cubicBezTo>
                  <a:cubicBezTo>
                    <a:pt x="503" y="28"/>
                    <a:pt x="422" y="1"/>
                    <a:pt x="326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72;p36">
              <a:extLst>
                <a:ext uri="{FF2B5EF4-FFF2-40B4-BE49-F238E27FC236}">
                  <a16:creationId xmlns:a16="http://schemas.microsoft.com/office/drawing/2014/main" id="{516833FF-AC2D-06F0-5F4E-A4BB26FF18C9}"/>
                </a:ext>
              </a:extLst>
            </p:cNvPr>
            <p:cNvSpPr/>
            <p:nvPr/>
          </p:nvSpPr>
          <p:spPr>
            <a:xfrm>
              <a:off x="3398603" y="2798042"/>
              <a:ext cx="376661" cy="376661"/>
            </a:xfrm>
            <a:custGeom>
              <a:avLst/>
              <a:gdLst/>
              <a:ahLst/>
              <a:cxnLst/>
              <a:rect l="l" t="t" r="r" b="b"/>
              <a:pathLst>
                <a:path w="17119" h="17119" extrusionOk="0">
                  <a:moveTo>
                    <a:pt x="7228" y="680"/>
                  </a:moveTo>
                  <a:cubicBezTo>
                    <a:pt x="8518" y="680"/>
                    <a:pt x="9565" y="1726"/>
                    <a:pt x="9565" y="3017"/>
                  </a:cubicBezTo>
                  <a:lnTo>
                    <a:pt x="9565" y="3397"/>
                  </a:lnTo>
                  <a:cubicBezTo>
                    <a:pt x="9158" y="3247"/>
                    <a:pt x="8872" y="2867"/>
                    <a:pt x="8872" y="2419"/>
                  </a:cubicBezTo>
                  <a:cubicBezTo>
                    <a:pt x="8872" y="2323"/>
                    <a:pt x="8817" y="2215"/>
                    <a:pt x="8736" y="2160"/>
                  </a:cubicBezTo>
                  <a:cubicBezTo>
                    <a:pt x="8673" y="2108"/>
                    <a:pt x="8594" y="2088"/>
                    <a:pt x="8517" y="2088"/>
                  </a:cubicBezTo>
                  <a:cubicBezTo>
                    <a:pt x="8495" y="2088"/>
                    <a:pt x="8473" y="2090"/>
                    <a:pt x="8451" y="2093"/>
                  </a:cubicBezTo>
                  <a:cubicBezTo>
                    <a:pt x="8050" y="2202"/>
                    <a:pt x="7636" y="2256"/>
                    <a:pt x="7221" y="2256"/>
                  </a:cubicBezTo>
                  <a:cubicBezTo>
                    <a:pt x="6807" y="2256"/>
                    <a:pt x="6393" y="2202"/>
                    <a:pt x="5992" y="2093"/>
                  </a:cubicBezTo>
                  <a:cubicBezTo>
                    <a:pt x="5970" y="2090"/>
                    <a:pt x="5948" y="2088"/>
                    <a:pt x="5925" y="2088"/>
                  </a:cubicBezTo>
                  <a:cubicBezTo>
                    <a:pt x="5849" y="2088"/>
                    <a:pt x="5770" y="2108"/>
                    <a:pt x="5707" y="2160"/>
                  </a:cubicBezTo>
                  <a:cubicBezTo>
                    <a:pt x="5625" y="2215"/>
                    <a:pt x="5571" y="2323"/>
                    <a:pt x="5571" y="2419"/>
                  </a:cubicBezTo>
                  <a:cubicBezTo>
                    <a:pt x="5571" y="2867"/>
                    <a:pt x="5285" y="3247"/>
                    <a:pt x="4878" y="3397"/>
                  </a:cubicBezTo>
                  <a:lnTo>
                    <a:pt x="4878" y="3017"/>
                  </a:lnTo>
                  <a:cubicBezTo>
                    <a:pt x="4878" y="1726"/>
                    <a:pt x="5937" y="680"/>
                    <a:pt x="7228" y="680"/>
                  </a:cubicBezTo>
                  <a:close/>
                  <a:moveTo>
                    <a:pt x="8247" y="2827"/>
                  </a:moveTo>
                  <a:cubicBezTo>
                    <a:pt x="8315" y="3111"/>
                    <a:pt x="8464" y="3356"/>
                    <a:pt x="8641" y="3560"/>
                  </a:cubicBezTo>
                  <a:lnTo>
                    <a:pt x="5801" y="3560"/>
                  </a:lnTo>
                  <a:cubicBezTo>
                    <a:pt x="5992" y="3356"/>
                    <a:pt x="6127" y="3111"/>
                    <a:pt x="6196" y="2827"/>
                  </a:cubicBezTo>
                  <a:cubicBezTo>
                    <a:pt x="6536" y="2887"/>
                    <a:pt x="6878" y="2918"/>
                    <a:pt x="7221" y="2918"/>
                  </a:cubicBezTo>
                  <a:cubicBezTo>
                    <a:pt x="7564" y="2918"/>
                    <a:pt x="7907" y="2887"/>
                    <a:pt x="8247" y="2827"/>
                  </a:cubicBezTo>
                  <a:close/>
                  <a:moveTo>
                    <a:pt x="10815" y="4239"/>
                  </a:moveTo>
                  <a:cubicBezTo>
                    <a:pt x="10937" y="4239"/>
                    <a:pt x="11032" y="4334"/>
                    <a:pt x="11032" y="4443"/>
                  </a:cubicBezTo>
                  <a:lnTo>
                    <a:pt x="11032" y="5285"/>
                  </a:lnTo>
                  <a:cubicBezTo>
                    <a:pt x="11032" y="5408"/>
                    <a:pt x="10937" y="5502"/>
                    <a:pt x="10815" y="5502"/>
                  </a:cubicBezTo>
                  <a:lnTo>
                    <a:pt x="10230" y="5502"/>
                  </a:lnTo>
                  <a:lnTo>
                    <a:pt x="10230" y="4239"/>
                  </a:lnTo>
                  <a:close/>
                  <a:moveTo>
                    <a:pt x="10896" y="6169"/>
                  </a:moveTo>
                  <a:lnTo>
                    <a:pt x="10896" y="6468"/>
                  </a:lnTo>
                  <a:cubicBezTo>
                    <a:pt x="10896" y="6739"/>
                    <a:pt x="10679" y="6970"/>
                    <a:pt x="10393" y="6970"/>
                  </a:cubicBezTo>
                  <a:lnTo>
                    <a:pt x="10027" y="6970"/>
                  </a:lnTo>
                  <a:cubicBezTo>
                    <a:pt x="10122" y="6725"/>
                    <a:pt x="10190" y="6453"/>
                    <a:pt x="10217" y="6169"/>
                  </a:cubicBezTo>
                  <a:close/>
                  <a:moveTo>
                    <a:pt x="9565" y="4239"/>
                  </a:moveTo>
                  <a:lnTo>
                    <a:pt x="9565" y="5897"/>
                  </a:lnTo>
                  <a:cubicBezTo>
                    <a:pt x="9565" y="6277"/>
                    <a:pt x="9469" y="6644"/>
                    <a:pt x="9293" y="6970"/>
                  </a:cubicBezTo>
                  <a:lnTo>
                    <a:pt x="7404" y="6970"/>
                  </a:lnTo>
                  <a:cubicBezTo>
                    <a:pt x="7214" y="6970"/>
                    <a:pt x="7065" y="7120"/>
                    <a:pt x="7065" y="7310"/>
                  </a:cubicBezTo>
                  <a:cubicBezTo>
                    <a:pt x="7065" y="7486"/>
                    <a:pt x="7214" y="7636"/>
                    <a:pt x="7404" y="7636"/>
                  </a:cubicBezTo>
                  <a:lnTo>
                    <a:pt x="8777" y="7636"/>
                  </a:lnTo>
                  <a:cubicBezTo>
                    <a:pt x="8370" y="8002"/>
                    <a:pt x="7826" y="8234"/>
                    <a:pt x="7228" y="8234"/>
                  </a:cubicBezTo>
                  <a:cubicBezTo>
                    <a:pt x="5937" y="8234"/>
                    <a:pt x="4878" y="7187"/>
                    <a:pt x="4878" y="5897"/>
                  </a:cubicBezTo>
                  <a:lnTo>
                    <a:pt x="4878" y="4239"/>
                  </a:lnTo>
                  <a:close/>
                  <a:moveTo>
                    <a:pt x="14347" y="8723"/>
                  </a:moveTo>
                  <a:cubicBezTo>
                    <a:pt x="14565" y="8723"/>
                    <a:pt x="14741" y="8899"/>
                    <a:pt x="14741" y="9116"/>
                  </a:cubicBezTo>
                  <a:cubicBezTo>
                    <a:pt x="14741" y="9333"/>
                    <a:pt x="14565" y="9524"/>
                    <a:pt x="14347" y="9524"/>
                  </a:cubicBezTo>
                  <a:lnTo>
                    <a:pt x="13138" y="9524"/>
                  </a:lnTo>
                  <a:cubicBezTo>
                    <a:pt x="12920" y="9524"/>
                    <a:pt x="12744" y="9333"/>
                    <a:pt x="12744" y="9116"/>
                  </a:cubicBezTo>
                  <a:cubicBezTo>
                    <a:pt x="12744" y="8899"/>
                    <a:pt x="12920" y="8723"/>
                    <a:pt x="13138" y="8723"/>
                  </a:cubicBezTo>
                  <a:close/>
                  <a:moveTo>
                    <a:pt x="8016" y="8790"/>
                  </a:moveTo>
                  <a:lnTo>
                    <a:pt x="8016" y="8980"/>
                  </a:lnTo>
                  <a:cubicBezTo>
                    <a:pt x="8016" y="9565"/>
                    <a:pt x="8464" y="10040"/>
                    <a:pt x="9022" y="10094"/>
                  </a:cubicBezTo>
                  <a:lnTo>
                    <a:pt x="9022" y="10951"/>
                  </a:lnTo>
                  <a:cubicBezTo>
                    <a:pt x="9022" y="11942"/>
                    <a:pt x="8220" y="12757"/>
                    <a:pt x="7228" y="12757"/>
                  </a:cubicBezTo>
                  <a:cubicBezTo>
                    <a:pt x="6223" y="12757"/>
                    <a:pt x="5421" y="11942"/>
                    <a:pt x="5421" y="10951"/>
                  </a:cubicBezTo>
                  <a:lnTo>
                    <a:pt x="5421" y="10094"/>
                  </a:lnTo>
                  <a:cubicBezTo>
                    <a:pt x="5979" y="10040"/>
                    <a:pt x="6426" y="9565"/>
                    <a:pt x="6426" y="8980"/>
                  </a:cubicBezTo>
                  <a:lnTo>
                    <a:pt x="6426" y="8790"/>
                  </a:lnTo>
                  <a:cubicBezTo>
                    <a:pt x="6685" y="8859"/>
                    <a:pt x="6943" y="8899"/>
                    <a:pt x="7228" y="8899"/>
                  </a:cubicBezTo>
                  <a:cubicBezTo>
                    <a:pt x="7500" y="8899"/>
                    <a:pt x="7758" y="8859"/>
                    <a:pt x="8016" y="8790"/>
                  </a:cubicBezTo>
                  <a:close/>
                  <a:moveTo>
                    <a:pt x="7228" y="1"/>
                  </a:moveTo>
                  <a:cubicBezTo>
                    <a:pt x="5557" y="1"/>
                    <a:pt x="4212" y="1359"/>
                    <a:pt x="4212" y="3017"/>
                  </a:cubicBezTo>
                  <a:lnTo>
                    <a:pt x="4212" y="5897"/>
                  </a:lnTo>
                  <a:cubicBezTo>
                    <a:pt x="4212" y="7024"/>
                    <a:pt x="4837" y="8016"/>
                    <a:pt x="5761" y="8518"/>
                  </a:cubicBezTo>
                  <a:lnTo>
                    <a:pt x="5761" y="8980"/>
                  </a:lnTo>
                  <a:cubicBezTo>
                    <a:pt x="5761" y="9225"/>
                    <a:pt x="5557" y="9429"/>
                    <a:pt x="5312" y="9429"/>
                  </a:cubicBezTo>
                  <a:lnTo>
                    <a:pt x="3084" y="9429"/>
                  </a:lnTo>
                  <a:cubicBezTo>
                    <a:pt x="1387" y="9429"/>
                    <a:pt x="1" y="10815"/>
                    <a:pt x="1" y="12512"/>
                  </a:cubicBezTo>
                  <a:cubicBezTo>
                    <a:pt x="1" y="13097"/>
                    <a:pt x="164" y="13668"/>
                    <a:pt x="476" y="14157"/>
                  </a:cubicBezTo>
                  <a:cubicBezTo>
                    <a:pt x="340" y="14537"/>
                    <a:pt x="259" y="14931"/>
                    <a:pt x="259" y="15325"/>
                  </a:cubicBezTo>
                  <a:cubicBezTo>
                    <a:pt x="259" y="15896"/>
                    <a:pt x="409" y="16452"/>
                    <a:pt x="680" y="16955"/>
                  </a:cubicBezTo>
                  <a:cubicBezTo>
                    <a:pt x="748" y="17064"/>
                    <a:pt x="856" y="17118"/>
                    <a:pt x="979" y="17118"/>
                  </a:cubicBezTo>
                  <a:cubicBezTo>
                    <a:pt x="1033" y="17118"/>
                    <a:pt x="1088" y="17104"/>
                    <a:pt x="1142" y="17077"/>
                  </a:cubicBezTo>
                  <a:cubicBezTo>
                    <a:pt x="1305" y="16983"/>
                    <a:pt x="1360" y="16778"/>
                    <a:pt x="1264" y="16629"/>
                  </a:cubicBezTo>
                  <a:cubicBezTo>
                    <a:pt x="1046" y="16235"/>
                    <a:pt x="938" y="15787"/>
                    <a:pt x="938" y="15325"/>
                  </a:cubicBezTo>
                  <a:cubicBezTo>
                    <a:pt x="938" y="14958"/>
                    <a:pt x="1006" y="14592"/>
                    <a:pt x="1169" y="14251"/>
                  </a:cubicBezTo>
                  <a:cubicBezTo>
                    <a:pt x="1210" y="14143"/>
                    <a:pt x="1196" y="14021"/>
                    <a:pt x="1128" y="13925"/>
                  </a:cubicBezTo>
                  <a:cubicBezTo>
                    <a:pt x="829" y="13505"/>
                    <a:pt x="666" y="13016"/>
                    <a:pt x="666" y="12512"/>
                  </a:cubicBezTo>
                  <a:cubicBezTo>
                    <a:pt x="666" y="11181"/>
                    <a:pt x="1753" y="10094"/>
                    <a:pt x="3084" y="10094"/>
                  </a:cubicBezTo>
                  <a:lnTo>
                    <a:pt x="3410" y="10094"/>
                  </a:lnTo>
                  <a:lnTo>
                    <a:pt x="3410" y="11929"/>
                  </a:lnTo>
                  <a:cubicBezTo>
                    <a:pt x="3410" y="12567"/>
                    <a:pt x="3261" y="13219"/>
                    <a:pt x="2990" y="13804"/>
                  </a:cubicBezTo>
                  <a:cubicBezTo>
                    <a:pt x="2976" y="13844"/>
                    <a:pt x="2963" y="13885"/>
                    <a:pt x="2963" y="13939"/>
                  </a:cubicBezTo>
                  <a:lnTo>
                    <a:pt x="2963" y="16778"/>
                  </a:lnTo>
                  <a:cubicBezTo>
                    <a:pt x="2963" y="16968"/>
                    <a:pt x="3111" y="17118"/>
                    <a:pt x="3289" y="17118"/>
                  </a:cubicBezTo>
                  <a:cubicBezTo>
                    <a:pt x="3479" y="17118"/>
                    <a:pt x="3628" y="16968"/>
                    <a:pt x="3628" y="16778"/>
                  </a:cubicBezTo>
                  <a:lnTo>
                    <a:pt x="3628" y="14021"/>
                  </a:lnTo>
                  <a:cubicBezTo>
                    <a:pt x="3927" y="13369"/>
                    <a:pt x="4077" y="12648"/>
                    <a:pt x="4077" y="11929"/>
                  </a:cubicBezTo>
                  <a:lnTo>
                    <a:pt x="4077" y="10094"/>
                  </a:lnTo>
                  <a:lnTo>
                    <a:pt x="4742" y="10094"/>
                  </a:lnTo>
                  <a:lnTo>
                    <a:pt x="4742" y="10951"/>
                  </a:lnTo>
                  <a:cubicBezTo>
                    <a:pt x="4742" y="12309"/>
                    <a:pt x="5856" y="13423"/>
                    <a:pt x="7228" y="13423"/>
                  </a:cubicBezTo>
                  <a:cubicBezTo>
                    <a:pt x="8587" y="13423"/>
                    <a:pt x="9701" y="12309"/>
                    <a:pt x="9701" y="10951"/>
                  </a:cubicBezTo>
                  <a:lnTo>
                    <a:pt x="9701" y="10094"/>
                  </a:lnTo>
                  <a:lnTo>
                    <a:pt x="10366" y="10094"/>
                  </a:lnTo>
                  <a:lnTo>
                    <a:pt x="10366" y="11603"/>
                  </a:lnTo>
                  <a:cubicBezTo>
                    <a:pt x="10366" y="11779"/>
                    <a:pt x="10516" y="11929"/>
                    <a:pt x="10692" y="11929"/>
                  </a:cubicBezTo>
                  <a:cubicBezTo>
                    <a:pt x="10882" y="11929"/>
                    <a:pt x="11032" y="11779"/>
                    <a:pt x="11032" y="11603"/>
                  </a:cubicBezTo>
                  <a:lnTo>
                    <a:pt x="11032" y="9837"/>
                  </a:lnTo>
                  <a:cubicBezTo>
                    <a:pt x="11032" y="9578"/>
                    <a:pt x="11250" y="9361"/>
                    <a:pt x="11507" y="9361"/>
                  </a:cubicBezTo>
                  <a:lnTo>
                    <a:pt x="12092" y="9361"/>
                  </a:lnTo>
                  <a:cubicBezTo>
                    <a:pt x="12214" y="9837"/>
                    <a:pt x="12635" y="10190"/>
                    <a:pt x="13138" y="10190"/>
                  </a:cubicBezTo>
                  <a:lnTo>
                    <a:pt x="14347" y="10190"/>
                  </a:lnTo>
                  <a:cubicBezTo>
                    <a:pt x="14849" y="10190"/>
                    <a:pt x="15271" y="9837"/>
                    <a:pt x="15380" y="9361"/>
                  </a:cubicBezTo>
                  <a:lnTo>
                    <a:pt x="15977" y="9361"/>
                  </a:lnTo>
                  <a:cubicBezTo>
                    <a:pt x="16235" y="9361"/>
                    <a:pt x="16452" y="9578"/>
                    <a:pt x="16452" y="9837"/>
                  </a:cubicBezTo>
                  <a:lnTo>
                    <a:pt x="16452" y="15977"/>
                  </a:lnTo>
                  <a:cubicBezTo>
                    <a:pt x="16452" y="16235"/>
                    <a:pt x="16235" y="16452"/>
                    <a:pt x="15977" y="16452"/>
                  </a:cubicBezTo>
                  <a:lnTo>
                    <a:pt x="11507" y="16452"/>
                  </a:lnTo>
                  <a:cubicBezTo>
                    <a:pt x="11250" y="16452"/>
                    <a:pt x="11032" y="16235"/>
                    <a:pt x="11032" y="15977"/>
                  </a:cubicBezTo>
                  <a:lnTo>
                    <a:pt x="11032" y="14414"/>
                  </a:lnTo>
                  <a:cubicBezTo>
                    <a:pt x="11032" y="14224"/>
                    <a:pt x="10882" y="14075"/>
                    <a:pt x="10692" y="14075"/>
                  </a:cubicBezTo>
                  <a:cubicBezTo>
                    <a:pt x="10516" y="14075"/>
                    <a:pt x="10366" y="14224"/>
                    <a:pt x="10366" y="14414"/>
                  </a:cubicBezTo>
                  <a:lnTo>
                    <a:pt x="10366" y="15977"/>
                  </a:lnTo>
                  <a:cubicBezTo>
                    <a:pt x="10366" y="16615"/>
                    <a:pt x="10869" y="17118"/>
                    <a:pt x="11507" y="17118"/>
                  </a:cubicBezTo>
                  <a:lnTo>
                    <a:pt x="15977" y="17118"/>
                  </a:lnTo>
                  <a:cubicBezTo>
                    <a:pt x="16602" y="17118"/>
                    <a:pt x="17119" y="16615"/>
                    <a:pt x="17119" y="15977"/>
                  </a:cubicBezTo>
                  <a:lnTo>
                    <a:pt x="17119" y="9837"/>
                  </a:lnTo>
                  <a:cubicBezTo>
                    <a:pt x="17119" y="9212"/>
                    <a:pt x="16602" y="8696"/>
                    <a:pt x="15977" y="8696"/>
                  </a:cubicBezTo>
                  <a:lnTo>
                    <a:pt x="15325" y="8696"/>
                  </a:lnTo>
                  <a:cubicBezTo>
                    <a:pt x="15162" y="8315"/>
                    <a:pt x="14782" y="8043"/>
                    <a:pt x="14347" y="8043"/>
                  </a:cubicBezTo>
                  <a:lnTo>
                    <a:pt x="13138" y="8043"/>
                  </a:lnTo>
                  <a:cubicBezTo>
                    <a:pt x="12703" y="8043"/>
                    <a:pt x="12322" y="8315"/>
                    <a:pt x="12159" y="8696"/>
                  </a:cubicBezTo>
                  <a:lnTo>
                    <a:pt x="11507" y="8696"/>
                  </a:lnTo>
                  <a:cubicBezTo>
                    <a:pt x="11018" y="8696"/>
                    <a:pt x="10611" y="8994"/>
                    <a:pt x="10435" y="9429"/>
                  </a:cubicBezTo>
                  <a:lnTo>
                    <a:pt x="9130" y="9429"/>
                  </a:lnTo>
                  <a:cubicBezTo>
                    <a:pt x="8886" y="9429"/>
                    <a:pt x="8681" y="9225"/>
                    <a:pt x="8681" y="8980"/>
                  </a:cubicBezTo>
                  <a:lnTo>
                    <a:pt x="8681" y="8518"/>
                  </a:lnTo>
                  <a:cubicBezTo>
                    <a:pt x="9076" y="8301"/>
                    <a:pt x="9415" y="8002"/>
                    <a:pt x="9674" y="7636"/>
                  </a:cubicBezTo>
                  <a:lnTo>
                    <a:pt x="10393" y="7636"/>
                  </a:lnTo>
                  <a:cubicBezTo>
                    <a:pt x="11045" y="7636"/>
                    <a:pt x="11562" y="7120"/>
                    <a:pt x="11562" y="6468"/>
                  </a:cubicBezTo>
                  <a:lnTo>
                    <a:pt x="11562" y="5761"/>
                  </a:lnTo>
                  <a:cubicBezTo>
                    <a:pt x="11657" y="5625"/>
                    <a:pt x="11697" y="5462"/>
                    <a:pt x="11697" y="5285"/>
                  </a:cubicBezTo>
                  <a:lnTo>
                    <a:pt x="11697" y="4443"/>
                  </a:lnTo>
                  <a:cubicBezTo>
                    <a:pt x="11697" y="3968"/>
                    <a:pt x="11304" y="3560"/>
                    <a:pt x="10815" y="3560"/>
                  </a:cubicBezTo>
                  <a:lnTo>
                    <a:pt x="10230" y="3560"/>
                  </a:lnTo>
                  <a:lnTo>
                    <a:pt x="10230" y="3017"/>
                  </a:lnTo>
                  <a:cubicBezTo>
                    <a:pt x="10230" y="1359"/>
                    <a:pt x="8886" y="1"/>
                    <a:pt x="7228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715;p60">
            <a:extLst>
              <a:ext uri="{FF2B5EF4-FFF2-40B4-BE49-F238E27FC236}">
                <a16:creationId xmlns:a16="http://schemas.microsoft.com/office/drawing/2014/main" id="{20E9DE0F-134C-B7BE-1757-960D5527EBA4}"/>
              </a:ext>
            </a:extLst>
          </p:cNvPr>
          <p:cNvGrpSpPr/>
          <p:nvPr/>
        </p:nvGrpSpPr>
        <p:grpSpPr>
          <a:xfrm>
            <a:off x="380768" y="1425028"/>
            <a:ext cx="578253" cy="615604"/>
            <a:chOff x="6037099" y="3491671"/>
            <a:chExt cx="353932" cy="376793"/>
          </a:xfrm>
        </p:grpSpPr>
        <p:sp>
          <p:nvSpPr>
            <p:cNvPr id="24" name="Google Shape;2716;p60">
              <a:extLst>
                <a:ext uri="{FF2B5EF4-FFF2-40B4-BE49-F238E27FC236}">
                  <a16:creationId xmlns:a16="http://schemas.microsoft.com/office/drawing/2014/main" id="{2D3D37F4-BAA1-9914-92C1-373D77C313EF}"/>
                </a:ext>
              </a:extLst>
            </p:cNvPr>
            <p:cNvSpPr/>
            <p:nvPr/>
          </p:nvSpPr>
          <p:spPr>
            <a:xfrm>
              <a:off x="6037099" y="3491671"/>
              <a:ext cx="353932" cy="376793"/>
            </a:xfrm>
            <a:custGeom>
              <a:avLst/>
              <a:gdLst/>
              <a:ahLst/>
              <a:cxnLst/>
              <a:rect l="l" t="t" r="r" b="b"/>
              <a:pathLst>
                <a:path w="16086" h="17125" extrusionOk="0">
                  <a:moveTo>
                    <a:pt x="4960" y="2575"/>
                  </a:moveTo>
                  <a:cubicBezTo>
                    <a:pt x="5109" y="2806"/>
                    <a:pt x="5190" y="3064"/>
                    <a:pt x="5190" y="3349"/>
                  </a:cubicBezTo>
                  <a:lnTo>
                    <a:pt x="5190" y="3838"/>
                  </a:lnTo>
                  <a:cubicBezTo>
                    <a:pt x="5190" y="4477"/>
                    <a:pt x="5449" y="5088"/>
                    <a:pt x="5911" y="5523"/>
                  </a:cubicBezTo>
                  <a:cubicBezTo>
                    <a:pt x="6346" y="5944"/>
                    <a:pt x="6916" y="6162"/>
                    <a:pt x="7514" y="6162"/>
                  </a:cubicBezTo>
                  <a:lnTo>
                    <a:pt x="10204" y="6162"/>
                  </a:lnTo>
                  <a:lnTo>
                    <a:pt x="10353" y="7153"/>
                  </a:lnTo>
                  <a:lnTo>
                    <a:pt x="8655" y="7153"/>
                  </a:lnTo>
                  <a:cubicBezTo>
                    <a:pt x="8465" y="7153"/>
                    <a:pt x="8315" y="7303"/>
                    <a:pt x="8315" y="7493"/>
                  </a:cubicBezTo>
                  <a:cubicBezTo>
                    <a:pt x="8315" y="7683"/>
                    <a:pt x="8465" y="7832"/>
                    <a:pt x="8655" y="7832"/>
                  </a:cubicBezTo>
                  <a:lnTo>
                    <a:pt x="10449" y="7832"/>
                  </a:lnTo>
                  <a:lnTo>
                    <a:pt x="10597" y="8824"/>
                  </a:lnTo>
                  <a:lnTo>
                    <a:pt x="9049" y="8824"/>
                  </a:lnTo>
                  <a:cubicBezTo>
                    <a:pt x="8873" y="8824"/>
                    <a:pt x="8723" y="8973"/>
                    <a:pt x="8723" y="9151"/>
                  </a:cubicBezTo>
                  <a:cubicBezTo>
                    <a:pt x="8723" y="9341"/>
                    <a:pt x="8873" y="9490"/>
                    <a:pt x="9049" y="9490"/>
                  </a:cubicBezTo>
                  <a:lnTo>
                    <a:pt x="10693" y="9490"/>
                  </a:lnTo>
                  <a:lnTo>
                    <a:pt x="10802" y="10196"/>
                  </a:lnTo>
                  <a:cubicBezTo>
                    <a:pt x="10815" y="10292"/>
                    <a:pt x="10829" y="10386"/>
                    <a:pt x="10856" y="10482"/>
                  </a:cubicBezTo>
                  <a:lnTo>
                    <a:pt x="9402" y="10482"/>
                  </a:lnTo>
                  <a:cubicBezTo>
                    <a:pt x="9212" y="10482"/>
                    <a:pt x="9063" y="10631"/>
                    <a:pt x="9063" y="10808"/>
                  </a:cubicBezTo>
                  <a:cubicBezTo>
                    <a:pt x="9063" y="10998"/>
                    <a:pt x="9212" y="11147"/>
                    <a:pt x="9402" y="11147"/>
                  </a:cubicBezTo>
                  <a:lnTo>
                    <a:pt x="11155" y="11147"/>
                  </a:lnTo>
                  <a:cubicBezTo>
                    <a:pt x="11399" y="11514"/>
                    <a:pt x="11753" y="11813"/>
                    <a:pt x="12173" y="11989"/>
                  </a:cubicBezTo>
                  <a:lnTo>
                    <a:pt x="13450" y="12547"/>
                  </a:lnTo>
                  <a:cubicBezTo>
                    <a:pt x="14280" y="12913"/>
                    <a:pt x="14850" y="13688"/>
                    <a:pt x="14972" y="14585"/>
                  </a:cubicBezTo>
                  <a:lnTo>
                    <a:pt x="11454" y="14585"/>
                  </a:lnTo>
                  <a:cubicBezTo>
                    <a:pt x="11086" y="14585"/>
                    <a:pt x="10720" y="14422"/>
                    <a:pt x="10462" y="14163"/>
                  </a:cubicBezTo>
                  <a:lnTo>
                    <a:pt x="7568" y="11161"/>
                  </a:lnTo>
                  <a:cubicBezTo>
                    <a:pt x="7505" y="11091"/>
                    <a:pt x="7417" y="11057"/>
                    <a:pt x="7328" y="11057"/>
                  </a:cubicBezTo>
                  <a:cubicBezTo>
                    <a:pt x="7244" y="11057"/>
                    <a:pt x="7158" y="11088"/>
                    <a:pt x="7092" y="11147"/>
                  </a:cubicBezTo>
                  <a:cubicBezTo>
                    <a:pt x="6957" y="11283"/>
                    <a:pt x="6957" y="11487"/>
                    <a:pt x="7092" y="11623"/>
                  </a:cubicBezTo>
                  <a:lnTo>
                    <a:pt x="9987" y="14625"/>
                  </a:lnTo>
                  <a:cubicBezTo>
                    <a:pt x="10367" y="15019"/>
                    <a:pt x="10910" y="15250"/>
                    <a:pt x="11454" y="15250"/>
                  </a:cubicBezTo>
                  <a:lnTo>
                    <a:pt x="14986" y="15250"/>
                  </a:lnTo>
                  <a:lnTo>
                    <a:pt x="14986" y="15943"/>
                  </a:lnTo>
                  <a:cubicBezTo>
                    <a:pt x="14986" y="16215"/>
                    <a:pt x="14755" y="16445"/>
                    <a:pt x="14483" y="16445"/>
                  </a:cubicBezTo>
                  <a:lnTo>
                    <a:pt x="11059" y="16445"/>
                  </a:lnTo>
                  <a:cubicBezTo>
                    <a:pt x="10313" y="16445"/>
                    <a:pt x="9606" y="16161"/>
                    <a:pt x="9076" y="15630"/>
                  </a:cubicBezTo>
                  <a:lnTo>
                    <a:pt x="830" y="7439"/>
                  </a:lnTo>
                  <a:cubicBezTo>
                    <a:pt x="734" y="7343"/>
                    <a:pt x="680" y="7207"/>
                    <a:pt x="680" y="7071"/>
                  </a:cubicBezTo>
                  <a:cubicBezTo>
                    <a:pt x="680" y="6936"/>
                    <a:pt x="734" y="6814"/>
                    <a:pt x="830" y="6718"/>
                  </a:cubicBezTo>
                  <a:lnTo>
                    <a:pt x="1604" y="5930"/>
                  </a:lnTo>
                  <a:lnTo>
                    <a:pt x="5000" y="9462"/>
                  </a:lnTo>
                  <a:cubicBezTo>
                    <a:pt x="5063" y="9525"/>
                    <a:pt x="5151" y="9560"/>
                    <a:pt x="5240" y="9560"/>
                  </a:cubicBezTo>
                  <a:cubicBezTo>
                    <a:pt x="5324" y="9560"/>
                    <a:pt x="5410" y="9529"/>
                    <a:pt x="5476" y="9462"/>
                  </a:cubicBezTo>
                  <a:cubicBezTo>
                    <a:pt x="5598" y="9341"/>
                    <a:pt x="5612" y="9123"/>
                    <a:pt x="5476" y="8987"/>
                  </a:cubicBezTo>
                  <a:lnTo>
                    <a:pt x="2066" y="5468"/>
                  </a:lnTo>
                  <a:lnTo>
                    <a:pt x="4960" y="2575"/>
                  </a:lnTo>
                  <a:close/>
                  <a:moveTo>
                    <a:pt x="6724" y="1"/>
                  </a:moveTo>
                  <a:cubicBezTo>
                    <a:pt x="6638" y="1"/>
                    <a:pt x="6550" y="35"/>
                    <a:pt x="6482" y="103"/>
                  </a:cubicBezTo>
                  <a:lnTo>
                    <a:pt x="354" y="6243"/>
                  </a:lnTo>
                  <a:cubicBezTo>
                    <a:pt x="124" y="6461"/>
                    <a:pt x="1" y="6759"/>
                    <a:pt x="1" y="7071"/>
                  </a:cubicBezTo>
                  <a:cubicBezTo>
                    <a:pt x="15" y="7397"/>
                    <a:pt x="137" y="7683"/>
                    <a:pt x="354" y="7914"/>
                  </a:cubicBezTo>
                  <a:lnTo>
                    <a:pt x="8601" y="16106"/>
                  </a:lnTo>
                  <a:cubicBezTo>
                    <a:pt x="9266" y="16758"/>
                    <a:pt x="10136" y="17125"/>
                    <a:pt x="11059" y="17125"/>
                  </a:cubicBezTo>
                  <a:lnTo>
                    <a:pt x="14483" y="17125"/>
                  </a:lnTo>
                  <a:cubicBezTo>
                    <a:pt x="15135" y="17125"/>
                    <a:pt x="15665" y="16595"/>
                    <a:pt x="15665" y="15943"/>
                  </a:cubicBezTo>
                  <a:lnTo>
                    <a:pt x="15665" y="14911"/>
                  </a:lnTo>
                  <a:cubicBezTo>
                    <a:pt x="15665" y="13620"/>
                    <a:pt x="14890" y="12451"/>
                    <a:pt x="13709" y="11935"/>
                  </a:cubicBezTo>
                  <a:lnTo>
                    <a:pt x="12432" y="11379"/>
                  </a:lnTo>
                  <a:cubicBezTo>
                    <a:pt x="11916" y="11147"/>
                    <a:pt x="11548" y="10672"/>
                    <a:pt x="11454" y="10101"/>
                  </a:cubicBezTo>
                  <a:lnTo>
                    <a:pt x="10815" y="5781"/>
                  </a:lnTo>
                  <a:cubicBezTo>
                    <a:pt x="10815" y="5767"/>
                    <a:pt x="10815" y="5740"/>
                    <a:pt x="10802" y="5727"/>
                  </a:cubicBezTo>
                  <a:lnTo>
                    <a:pt x="15950" y="578"/>
                  </a:lnTo>
                  <a:cubicBezTo>
                    <a:pt x="16086" y="442"/>
                    <a:pt x="16086" y="239"/>
                    <a:pt x="15950" y="103"/>
                  </a:cubicBezTo>
                  <a:cubicBezTo>
                    <a:pt x="15889" y="35"/>
                    <a:pt x="15804" y="1"/>
                    <a:pt x="15718" y="1"/>
                  </a:cubicBezTo>
                  <a:cubicBezTo>
                    <a:pt x="15631" y="1"/>
                    <a:pt x="15543" y="35"/>
                    <a:pt x="15475" y="103"/>
                  </a:cubicBezTo>
                  <a:lnTo>
                    <a:pt x="10081" y="5496"/>
                  </a:lnTo>
                  <a:lnTo>
                    <a:pt x="7514" y="5496"/>
                  </a:lnTo>
                  <a:cubicBezTo>
                    <a:pt x="7092" y="5496"/>
                    <a:pt x="6685" y="5332"/>
                    <a:pt x="6373" y="5048"/>
                  </a:cubicBezTo>
                  <a:cubicBezTo>
                    <a:pt x="6047" y="4735"/>
                    <a:pt x="5857" y="4287"/>
                    <a:pt x="5857" y="3838"/>
                  </a:cubicBezTo>
                  <a:lnTo>
                    <a:pt x="5857" y="3349"/>
                  </a:lnTo>
                  <a:cubicBezTo>
                    <a:pt x="5857" y="2887"/>
                    <a:pt x="5707" y="2452"/>
                    <a:pt x="5449" y="2086"/>
                  </a:cubicBezTo>
                  <a:lnTo>
                    <a:pt x="6957" y="578"/>
                  </a:lnTo>
                  <a:cubicBezTo>
                    <a:pt x="7092" y="442"/>
                    <a:pt x="7092" y="239"/>
                    <a:pt x="6957" y="103"/>
                  </a:cubicBezTo>
                  <a:cubicBezTo>
                    <a:pt x="6896" y="35"/>
                    <a:pt x="6811" y="1"/>
                    <a:pt x="6724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717;p60">
              <a:extLst>
                <a:ext uri="{FF2B5EF4-FFF2-40B4-BE49-F238E27FC236}">
                  <a16:creationId xmlns:a16="http://schemas.microsoft.com/office/drawing/2014/main" id="{934814DE-6D53-51FA-44F6-A68894FB9BCE}"/>
                </a:ext>
              </a:extLst>
            </p:cNvPr>
            <p:cNvSpPr/>
            <p:nvPr/>
          </p:nvSpPr>
          <p:spPr>
            <a:xfrm>
              <a:off x="6168036" y="3711212"/>
              <a:ext cx="14676" cy="14676"/>
            </a:xfrm>
            <a:custGeom>
              <a:avLst/>
              <a:gdLst/>
              <a:ahLst/>
              <a:cxnLst/>
              <a:rect l="l" t="t" r="r" b="b"/>
              <a:pathLst>
                <a:path w="667" h="667" extrusionOk="0">
                  <a:moveTo>
                    <a:pt x="326" y="1"/>
                  </a:moveTo>
                  <a:cubicBezTo>
                    <a:pt x="245" y="1"/>
                    <a:pt x="163" y="28"/>
                    <a:pt x="96" y="96"/>
                  </a:cubicBezTo>
                  <a:cubicBezTo>
                    <a:pt x="27" y="151"/>
                    <a:pt x="0" y="245"/>
                    <a:pt x="0" y="327"/>
                  </a:cubicBezTo>
                  <a:cubicBezTo>
                    <a:pt x="0" y="422"/>
                    <a:pt x="27" y="504"/>
                    <a:pt x="96" y="571"/>
                  </a:cubicBezTo>
                  <a:cubicBezTo>
                    <a:pt x="163" y="626"/>
                    <a:pt x="245" y="667"/>
                    <a:pt x="326" y="667"/>
                  </a:cubicBezTo>
                  <a:cubicBezTo>
                    <a:pt x="422" y="667"/>
                    <a:pt x="503" y="626"/>
                    <a:pt x="571" y="571"/>
                  </a:cubicBezTo>
                  <a:cubicBezTo>
                    <a:pt x="625" y="504"/>
                    <a:pt x="666" y="422"/>
                    <a:pt x="666" y="327"/>
                  </a:cubicBezTo>
                  <a:cubicBezTo>
                    <a:pt x="666" y="245"/>
                    <a:pt x="625" y="151"/>
                    <a:pt x="571" y="96"/>
                  </a:cubicBezTo>
                  <a:cubicBezTo>
                    <a:pt x="503" y="28"/>
                    <a:pt x="422" y="1"/>
                    <a:pt x="326" y="1"/>
                  </a:cubicBezTo>
                  <a:close/>
                </a:path>
              </a:pathLst>
            </a:custGeom>
            <a:solidFill>
              <a:srgbClr val="010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1179;p37">
            <a:extLst>
              <a:ext uri="{FF2B5EF4-FFF2-40B4-BE49-F238E27FC236}">
                <a16:creationId xmlns:a16="http://schemas.microsoft.com/office/drawing/2014/main" id="{30291F29-85D8-1FD3-B134-14FF0F0F5E5F}"/>
              </a:ext>
            </a:extLst>
          </p:cNvPr>
          <p:cNvSpPr txBox="1">
            <a:spLocks/>
          </p:cNvSpPr>
          <p:nvPr/>
        </p:nvSpPr>
        <p:spPr>
          <a:xfrm>
            <a:off x="1244036" y="1592756"/>
            <a:ext cx="1068600" cy="50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 algn="ctr">
              <a:buFont typeface="Nanum Gothic"/>
              <a:buNone/>
            </a:pPr>
            <a:r>
              <a:rPr lang="en" sz="21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/ </a:t>
            </a:r>
            <a:r>
              <a:rPr lang="en" sz="2100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</a:t>
            </a:r>
          </a:p>
        </p:txBody>
      </p:sp>
      <p:sp>
        <p:nvSpPr>
          <p:cNvPr id="27" name="Google Shape;1179;p37">
            <a:extLst>
              <a:ext uri="{FF2B5EF4-FFF2-40B4-BE49-F238E27FC236}">
                <a16:creationId xmlns:a16="http://schemas.microsoft.com/office/drawing/2014/main" id="{F347976C-E34B-F9B5-9A8A-BE10D50E8494}"/>
              </a:ext>
            </a:extLst>
          </p:cNvPr>
          <p:cNvSpPr txBox="1">
            <a:spLocks/>
          </p:cNvSpPr>
          <p:nvPr/>
        </p:nvSpPr>
        <p:spPr>
          <a:xfrm>
            <a:off x="4118139" y="1592756"/>
            <a:ext cx="1068600" cy="50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 algn="ctr">
              <a:buFont typeface="Nanum Gothic"/>
              <a:buNone/>
            </a:pPr>
            <a:r>
              <a:rPr lang="en" sz="21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/ </a:t>
            </a:r>
            <a:r>
              <a:rPr lang="en" sz="2100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</a:t>
            </a:r>
          </a:p>
        </p:txBody>
      </p:sp>
      <p:sp>
        <p:nvSpPr>
          <p:cNvPr id="28" name="Google Shape;1179;p37">
            <a:extLst>
              <a:ext uri="{FF2B5EF4-FFF2-40B4-BE49-F238E27FC236}">
                <a16:creationId xmlns:a16="http://schemas.microsoft.com/office/drawing/2014/main" id="{533A9F31-29C6-4494-592A-22A84F0B1DA3}"/>
              </a:ext>
            </a:extLst>
          </p:cNvPr>
          <p:cNvSpPr txBox="1">
            <a:spLocks/>
          </p:cNvSpPr>
          <p:nvPr/>
        </p:nvSpPr>
        <p:spPr>
          <a:xfrm>
            <a:off x="7021668" y="1595959"/>
            <a:ext cx="1068600" cy="508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●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○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Char char="■"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0" indent="0" algn="ctr">
              <a:buFont typeface="Nanum Gothic"/>
              <a:buNone/>
            </a:pPr>
            <a:r>
              <a:rPr lang="en" sz="2100" dirty="0">
                <a:solidFill>
                  <a:schemeClr val="lt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/ </a:t>
            </a:r>
            <a:r>
              <a:rPr lang="en" sz="2100" dirty="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</a:t>
            </a:r>
          </a:p>
        </p:txBody>
      </p:sp>
      <p:sp>
        <p:nvSpPr>
          <p:cNvPr id="29" name="Google Shape;1150;p36">
            <a:extLst>
              <a:ext uri="{FF2B5EF4-FFF2-40B4-BE49-F238E27FC236}">
                <a16:creationId xmlns:a16="http://schemas.microsoft.com/office/drawing/2014/main" id="{7DC4CD12-9096-8E8F-3B70-18C64D33C6C7}"/>
              </a:ext>
            </a:extLst>
          </p:cNvPr>
          <p:cNvSpPr txBox="1">
            <a:spLocks/>
          </p:cNvSpPr>
          <p:nvPr/>
        </p:nvSpPr>
        <p:spPr>
          <a:xfrm>
            <a:off x="3533407" y="2592190"/>
            <a:ext cx="25014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Foot Locker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Walmart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Sports Direct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West Gear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Kohl’s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Amazon</a:t>
            </a:r>
          </a:p>
        </p:txBody>
      </p:sp>
      <p:sp>
        <p:nvSpPr>
          <p:cNvPr id="30" name="Google Shape;1150;p36">
            <a:extLst>
              <a:ext uri="{FF2B5EF4-FFF2-40B4-BE49-F238E27FC236}">
                <a16:creationId xmlns:a16="http://schemas.microsoft.com/office/drawing/2014/main" id="{F06F7F78-A1D1-28EC-F016-3570D7489D54}"/>
              </a:ext>
            </a:extLst>
          </p:cNvPr>
          <p:cNvSpPr txBox="1">
            <a:spLocks/>
          </p:cNvSpPr>
          <p:nvPr/>
        </p:nvSpPr>
        <p:spPr>
          <a:xfrm>
            <a:off x="5993449" y="2542503"/>
            <a:ext cx="25014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anum Gothic"/>
              <a:buNone/>
              <a:defRPr sz="1600" b="0" i="0" u="none" strike="noStrike" cap="none">
                <a:solidFill>
                  <a:srgbClr val="000000"/>
                </a:solidFill>
                <a:latin typeface="Nanum Gothic"/>
                <a:ea typeface="Nanum Gothic"/>
                <a:cs typeface="Nanum Gothic"/>
                <a:sym typeface="Nanum Gothic"/>
              </a:defRPr>
            </a:lvl9pPr>
          </a:lstStyle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In-store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Outlet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sz="1100" dirty="0"/>
              <a:t>Online</a:t>
            </a:r>
          </a:p>
        </p:txBody>
      </p:sp>
    </p:spTree>
    <p:extLst>
      <p:ext uri="{BB962C8B-B14F-4D97-AF65-F5344CB8AC3E}">
        <p14:creationId xmlns:p14="http://schemas.microsoft.com/office/powerpoint/2010/main" val="4014654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78E03D79-55EB-28F5-F438-A06E7B64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>
            <a:extLst>
              <a:ext uri="{FF2B5EF4-FFF2-40B4-BE49-F238E27FC236}">
                <a16:creationId xmlns:a16="http://schemas.microsoft.com/office/drawing/2014/main" id="{6A6931B7-E0C9-652A-C608-B6F6801B0E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71" r="1181"/>
          <a:stretch/>
        </p:blipFill>
        <p:spPr>
          <a:xfrm flipH="1">
            <a:off x="5838825" y="152400"/>
            <a:ext cx="31480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>
            <a:extLst>
              <a:ext uri="{FF2B5EF4-FFF2-40B4-BE49-F238E27FC236}">
                <a16:creationId xmlns:a16="http://schemas.microsoft.com/office/drawing/2014/main" id="{059E2AE1-012B-76AE-07EB-C772BA5AC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233" y="36006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2" name="Google Shape;202;p32">
            <a:extLst>
              <a:ext uri="{FF2B5EF4-FFF2-40B4-BE49-F238E27FC236}">
                <a16:creationId xmlns:a16="http://schemas.microsoft.com/office/drawing/2014/main" id="{C2D8E38C-7857-0405-9FE3-8E78E13EA24E}"/>
              </a:ext>
            </a:extLst>
          </p:cNvPr>
          <p:cNvSpPr/>
          <p:nvPr/>
        </p:nvSpPr>
        <p:spPr>
          <a:xfrm rot="-403563">
            <a:off x="3015856" y="544586"/>
            <a:ext cx="367694" cy="368463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>
            <a:extLst>
              <a:ext uri="{FF2B5EF4-FFF2-40B4-BE49-F238E27FC236}">
                <a16:creationId xmlns:a16="http://schemas.microsoft.com/office/drawing/2014/main" id="{2D7F6F12-3147-31D7-0701-DF75DECD662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0581" y="1922530"/>
            <a:ext cx="5278244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EXPLORATORY ANALYSIS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97340-1861-1A54-3ED0-E7C98E987D02}"/>
              </a:ext>
            </a:extLst>
          </p:cNvPr>
          <p:cNvSpPr txBox="1"/>
          <p:nvPr/>
        </p:nvSpPr>
        <p:spPr>
          <a:xfrm>
            <a:off x="780585" y="3367668"/>
            <a:ext cx="334536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Sales Overview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Regional Performance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Category Analysis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Sales Method Analysis</a:t>
            </a:r>
          </a:p>
        </p:txBody>
      </p:sp>
    </p:spTree>
    <p:extLst>
      <p:ext uri="{BB962C8B-B14F-4D97-AF65-F5344CB8AC3E}">
        <p14:creationId xmlns:p14="http://schemas.microsoft.com/office/powerpoint/2010/main" val="277398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50381882-4208-F540-73DF-70BEC5BB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0A9EE958-D50B-A5C1-3185-D3FF6A6D11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973" y="13848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DATA EXPLORATORY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1F796ECC-0BE4-B735-B00C-2FE9F8134DE7}"/>
              </a:ext>
            </a:extLst>
          </p:cNvPr>
          <p:cNvSpPr/>
          <p:nvPr/>
        </p:nvSpPr>
        <p:spPr>
          <a:xfrm rot="-403778">
            <a:off x="5881771" y="181145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47;p29">
            <a:extLst>
              <a:ext uri="{FF2B5EF4-FFF2-40B4-BE49-F238E27FC236}">
                <a16:creationId xmlns:a16="http://schemas.microsoft.com/office/drawing/2014/main" id="{A176CB1E-2393-0C2E-A18D-97A451E9C5FF}"/>
              </a:ext>
            </a:extLst>
          </p:cNvPr>
          <p:cNvSpPr txBox="1">
            <a:spLocks/>
          </p:cNvSpPr>
          <p:nvPr/>
        </p:nvSpPr>
        <p:spPr>
          <a:xfrm>
            <a:off x="514724" y="545926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Sale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05C12-0463-801E-3CB4-CF10E06F0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72" y="914909"/>
            <a:ext cx="5319749" cy="421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8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80732045-4618-78E8-BBDE-6F5A86D8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968AD36F-2E48-669F-8E5F-00F8E533F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EDCD135D-F6A1-ED65-12BC-27B02E48FA66}"/>
              </a:ext>
            </a:extLst>
          </p:cNvPr>
          <p:cNvSpPr/>
          <p:nvPr/>
        </p:nvSpPr>
        <p:spPr>
          <a:xfrm rot="-403778">
            <a:off x="3844793" y="44540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08EC28FA-E1F5-8FD4-3FCC-F86A3CE5D276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Sales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19026-8394-961D-ADD0-913201BAB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2" y="1819115"/>
            <a:ext cx="3129627" cy="18865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257C4-C742-B6C0-FBDB-898E19CE1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727" y="723350"/>
            <a:ext cx="4731666" cy="407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37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7D2560EA-F2BC-B380-3F07-F3955A796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08A62AEB-9F2B-3190-0922-6394502AC7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CAA62A6E-296E-4398-26BB-AA36BD949C28}"/>
              </a:ext>
            </a:extLst>
          </p:cNvPr>
          <p:cNvSpPr/>
          <p:nvPr/>
        </p:nvSpPr>
        <p:spPr>
          <a:xfrm rot="-403778">
            <a:off x="3859661" y="275940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AE5281BF-D75F-FFE1-06E9-C0FAA610BCF9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Sales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F08260-51F9-C443-038F-E8756F6B2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632" y="1657312"/>
            <a:ext cx="3457609" cy="1395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7E890D-54C8-3DE6-BDED-2B8DE0CF5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583" y="437001"/>
            <a:ext cx="4490785" cy="459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664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475D92E-F42C-D0DD-BA4B-4C4DF268D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D017A727-BCD3-02B6-DCDE-CE3A3BCD8D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66E28DCC-0AD9-58F8-7F71-C54EA948CC06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26A24D35-A5CA-B93F-0F91-C113E6721916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Sales Method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A9E4D-0801-3E22-5636-653A102B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686" y="1162317"/>
            <a:ext cx="4789484" cy="398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9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C08E1FD5-7AC9-D6A6-122E-3960DA29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A1C59B04-1D89-F343-1E51-340B01B01E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C982EC56-D941-DF26-2168-AD248CC4B028}"/>
              </a:ext>
            </a:extLst>
          </p:cNvPr>
          <p:cNvSpPr/>
          <p:nvPr/>
        </p:nvSpPr>
        <p:spPr>
          <a:xfrm rot="-403778">
            <a:off x="3859661" y="275940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EA5CFCBB-6311-9412-0EE1-C95B1A69B36F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Sales Overview - Summary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2CF9F2-4EEA-02E8-B137-DCF4282E1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4562" y="1190331"/>
            <a:ext cx="4313672" cy="344231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B69A56B-E24D-F6AE-2099-1BD627080A3B}"/>
              </a:ext>
            </a:extLst>
          </p:cNvPr>
          <p:cNvSpPr/>
          <p:nvPr/>
        </p:nvSpPr>
        <p:spPr>
          <a:xfrm>
            <a:off x="2094562" y="1724722"/>
            <a:ext cx="3941965" cy="28249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9BCFDC-D994-3E8D-60D1-1EDB9E639BAB}"/>
              </a:ext>
            </a:extLst>
          </p:cNvPr>
          <p:cNvSpPr/>
          <p:nvPr/>
        </p:nvSpPr>
        <p:spPr>
          <a:xfrm>
            <a:off x="2180055" y="3731941"/>
            <a:ext cx="4138969" cy="22122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8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A8F7B6CC-0F97-FCA4-50AB-2A0CD37F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301BDDB9-21FC-8C67-184F-E1678E6A59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3D0B48B0-9130-5925-68DB-DFC1B636CAB9}"/>
              </a:ext>
            </a:extLst>
          </p:cNvPr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125615BA-6BF9-1EB4-806F-6A4C471BA01B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Product Category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62124-62EB-AE0E-1D41-397C3287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9" y="1727975"/>
            <a:ext cx="3052539" cy="16322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C8FEA5-E6E9-F959-973C-A982E4537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946" y="1286792"/>
            <a:ext cx="5641553" cy="266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005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71B6B11-F6B1-E25B-3C16-579ACDE9D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54C9AA19-716E-241C-0DB3-954F836D4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EXPLORE DATA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6EF4168A-1C5D-B427-54E4-25380416205A}"/>
              </a:ext>
            </a:extLst>
          </p:cNvPr>
          <p:cNvSpPr/>
          <p:nvPr/>
        </p:nvSpPr>
        <p:spPr>
          <a:xfrm rot="-403778">
            <a:off x="4446959" y="529571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81AC4799-660B-B32F-D3A8-14DFD5F8714C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Product Category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050E76-467B-396D-AF35-A59F01C8E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55" y="1093870"/>
            <a:ext cx="5617367" cy="392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74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45278B9E-CB5D-1DE0-2404-11E8D190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>
            <a:extLst>
              <a:ext uri="{FF2B5EF4-FFF2-40B4-BE49-F238E27FC236}">
                <a16:creationId xmlns:a16="http://schemas.microsoft.com/office/drawing/2014/main" id="{61B45978-1A7F-73ED-323B-ECDDFBC4824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71" r="1181"/>
          <a:stretch/>
        </p:blipFill>
        <p:spPr>
          <a:xfrm flipH="1">
            <a:off x="5838825" y="152400"/>
            <a:ext cx="31480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>
            <a:extLst>
              <a:ext uri="{FF2B5EF4-FFF2-40B4-BE49-F238E27FC236}">
                <a16:creationId xmlns:a16="http://schemas.microsoft.com/office/drawing/2014/main" id="{550A4CF5-A5DC-049E-8AAC-F7A5EB967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233" y="36006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2" name="Google Shape;202;p32">
            <a:extLst>
              <a:ext uri="{FF2B5EF4-FFF2-40B4-BE49-F238E27FC236}">
                <a16:creationId xmlns:a16="http://schemas.microsoft.com/office/drawing/2014/main" id="{EB36372C-3937-FFA4-6BD1-C895CAEC588E}"/>
              </a:ext>
            </a:extLst>
          </p:cNvPr>
          <p:cNvSpPr/>
          <p:nvPr/>
        </p:nvSpPr>
        <p:spPr>
          <a:xfrm rot="-403563">
            <a:off x="3015856" y="544586"/>
            <a:ext cx="367694" cy="368463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>
            <a:extLst>
              <a:ext uri="{FF2B5EF4-FFF2-40B4-BE49-F238E27FC236}">
                <a16:creationId xmlns:a16="http://schemas.microsoft.com/office/drawing/2014/main" id="{334B8941-DB69-D219-350C-1F71B66ECB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0581" y="1922530"/>
            <a:ext cx="5278244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REGIONAL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ANALYSIS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B8B02-120A-E7BB-A668-4EDE5951D640}"/>
              </a:ext>
            </a:extLst>
          </p:cNvPr>
          <p:cNvSpPr txBox="1"/>
          <p:nvPr/>
        </p:nvSpPr>
        <p:spPr>
          <a:xfrm>
            <a:off x="780585" y="3367668"/>
            <a:ext cx="3345366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Sales Overtime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 &amp; Bottom Product Performance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 &amp; Bottom States Performance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Sales Method Performance</a:t>
            </a:r>
          </a:p>
        </p:txBody>
      </p:sp>
    </p:spTree>
    <p:extLst>
      <p:ext uri="{BB962C8B-B14F-4D97-AF65-F5344CB8AC3E}">
        <p14:creationId xmlns:p14="http://schemas.microsoft.com/office/powerpoint/2010/main" val="1602740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DBD3A598-A651-E75E-7D10-10B03B67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168B9DF2-C6C6-8AAD-2596-04C466A1BA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REGIONAL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4060DD12-344B-D92C-1D87-F06051AA099F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B088F388-272A-13D3-2DDA-D39BC9BB0DA2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West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0BE213-C6EC-A2CD-7CF8-99BCD2D2F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" y="1304662"/>
            <a:ext cx="3199978" cy="25341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52BEA6-0A38-ACDF-84CF-B11CD8E35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9444" y="1254916"/>
            <a:ext cx="3185224" cy="16306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EFB86B-901F-3776-0F29-C1E7D56C9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015" y="3115910"/>
            <a:ext cx="3117653" cy="11767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6194DA-697D-D6EA-A689-93849C8827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0720" y="1254916"/>
            <a:ext cx="2081503" cy="15003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8F539F-26C7-1175-706F-6BAF0BE503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720" y="2885577"/>
            <a:ext cx="2227555" cy="154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2857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2BA5936-5544-8DDA-469A-14EF1E54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18A5691D-2928-577D-A61D-050212EF3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REGIONAL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B0FD1E4B-31A8-08CE-E923-ACF69CAC2DD0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2849BAE9-3B21-3069-B3CD-E602D3E70332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Northeast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8BD60-913F-55EE-6348-7F753D711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6" y="1271132"/>
            <a:ext cx="3284656" cy="26012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0A6F31-3F23-6C3B-7F6B-B43CD1BC3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637" y="1271132"/>
            <a:ext cx="3388838" cy="17173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20C7C-0019-0980-DF8A-805865D84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410" y="3194794"/>
            <a:ext cx="3060676" cy="11477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362412-9010-0019-CE35-683460E2FA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111" y="1271132"/>
            <a:ext cx="2259523" cy="13785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A95FFAF-6089-CCFC-9EA9-B15D91A98E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111" y="2970885"/>
            <a:ext cx="2172041" cy="155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929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63EE8CAA-35AA-12E5-8185-B82E19FFB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18CB4D79-14DC-E2AA-2411-EF458ED60E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REGIONAL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007F4E2C-E4D7-002A-5F47-109C4EE8B86A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756CCC3F-7183-7E52-C02A-27FB3A626D2A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Southeast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C62FCE-201D-2E0B-D3D0-B58612858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83" y="1387871"/>
            <a:ext cx="3186618" cy="2523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FC34E3-F20B-28F4-0A04-5C1CCF122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001" y="1387871"/>
            <a:ext cx="3292085" cy="1691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13D718-DADA-BBE8-689C-B636DAEE4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001" y="3130118"/>
            <a:ext cx="3292085" cy="1272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484333-1295-C10E-A9CA-24C3E6734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95" y="1329038"/>
            <a:ext cx="2297157" cy="150314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9739F-EA8D-A727-F830-0590870542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995" y="2995801"/>
            <a:ext cx="2297158" cy="154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90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89EC18AD-2EBC-380B-D4E6-1FE04B65B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6EF2E970-3557-9799-C995-342C0958B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REGIONAL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3B000E0C-CFEC-3706-CF8D-4756B99A6307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2CFA9EBC-7BA9-330D-F0EC-8241271AD3D4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South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091A7-1370-56F0-E708-A2829F757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3" y="1286076"/>
            <a:ext cx="3199783" cy="2571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BD9C6C-AAF7-E264-B7DD-93D0D3945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546" y="1329038"/>
            <a:ext cx="3249237" cy="1689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62B9FF-64E2-EAA5-EC71-28B855FFA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171" y="3182039"/>
            <a:ext cx="3360824" cy="13530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4F2D70-1C9A-7597-F9A3-7348C40BA4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0996" y="1285333"/>
            <a:ext cx="2369590" cy="16893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72F04CE-101F-F389-D33E-70AF506F76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996" y="3182040"/>
            <a:ext cx="2369590" cy="160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436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3E5C80A8-4F34-07D7-C0E3-116302E1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D3F1A0F5-7162-0A2E-03DF-57AB00890A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632" y="1506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REGIONAL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B4595112-9B8E-CEA1-4DDE-AE29DEDD7F1C}"/>
              </a:ext>
            </a:extLst>
          </p:cNvPr>
          <p:cNvSpPr/>
          <p:nvPr/>
        </p:nvSpPr>
        <p:spPr>
          <a:xfrm rot="-403778">
            <a:off x="3852227" y="189384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A787126D-5649-43AC-620D-7AB1092BFC78}"/>
              </a:ext>
            </a:extLst>
          </p:cNvPr>
          <p:cNvSpPr txBox="1">
            <a:spLocks/>
          </p:cNvSpPr>
          <p:nvPr/>
        </p:nvSpPr>
        <p:spPr>
          <a:xfrm>
            <a:off x="671132" y="61763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Midwest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F7646F-2BD2-2B6C-F68A-FF2B425E9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73" y="1480044"/>
            <a:ext cx="3115492" cy="24672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24D1A6-8317-DD14-C6F6-C795CB636A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171" y="1480044"/>
            <a:ext cx="3279049" cy="16983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54FBE7-F033-8441-503E-5D9897965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171" y="3303366"/>
            <a:ext cx="3279049" cy="12432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EFEDCD-06B9-7942-5431-6F3E6FC58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221" y="1355101"/>
            <a:ext cx="2369590" cy="16294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EF8AD9-2D33-0710-7B61-5C363B748F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826" y="3178423"/>
            <a:ext cx="2380101" cy="165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139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6935D1FB-22AD-98ED-BE15-6D971D6E9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>
            <a:extLst>
              <a:ext uri="{FF2B5EF4-FFF2-40B4-BE49-F238E27FC236}">
                <a16:creationId xmlns:a16="http://schemas.microsoft.com/office/drawing/2014/main" id="{1FC3DD1F-7669-6577-9AF8-DF0B26285F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71" r="1181"/>
          <a:stretch/>
        </p:blipFill>
        <p:spPr>
          <a:xfrm flipH="1">
            <a:off x="5838825" y="152400"/>
            <a:ext cx="31480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>
            <a:extLst>
              <a:ext uri="{FF2B5EF4-FFF2-40B4-BE49-F238E27FC236}">
                <a16:creationId xmlns:a16="http://schemas.microsoft.com/office/drawing/2014/main" id="{107FF63B-88EA-FEB9-4B6D-78160DC02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233" y="36006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02" name="Google Shape;202;p32">
            <a:extLst>
              <a:ext uri="{FF2B5EF4-FFF2-40B4-BE49-F238E27FC236}">
                <a16:creationId xmlns:a16="http://schemas.microsoft.com/office/drawing/2014/main" id="{431B722E-B126-C052-A20A-403A22B84DF1}"/>
              </a:ext>
            </a:extLst>
          </p:cNvPr>
          <p:cNvSpPr/>
          <p:nvPr/>
        </p:nvSpPr>
        <p:spPr>
          <a:xfrm rot="-403563">
            <a:off x="3015856" y="544586"/>
            <a:ext cx="367694" cy="368463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>
            <a:extLst>
              <a:ext uri="{FF2B5EF4-FFF2-40B4-BE49-F238E27FC236}">
                <a16:creationId xmlns:a16="http://schemas.microsoft.com/office/drawing/2014/main" id="{8DB1980E-4A90-1E0F-9F32-B9D98AA4105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60581" y="1922530"/>
            <a:ext cx="5278244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CUSTOMER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SEGMENTATION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263559-4B10-51C2-CED8-AEA625CAC9AD}"/>
              </a:ext>
            </a:extLst>
          </p:cNvPr>
          <p:cNvSpPr txBox="1"/>
          <p:nvPr/>
        </p:nvSpPr>
        <p:spPr>
          <a:xfrm>
            <a:off x="780585" y="3483852"/>
            <a:ext cx="334536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Cluster Analysis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RFM Analysis</a:t>
            </a:r>
          </a:p>
        </p:txBody>
      </p:sp>
    </p:spTree>
    <p:extLst>
      <p:ext uri="{BB962C8B-B14F-4D97-AF65-F5344CB8AC3E}">
        <p14:creationId xmlns:p14="http://schemas.microsoft.com/office/powerpoint/2010/main" val="1301676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A0DE3108-DD65-5E5C-4A37-0E6B37FE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A9F28EE1-7112-7B49-B881-18F83BC8FA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SEGMENTATION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DCE058A5-182D-3232-D9F1-84CBAC5D35B8}"/>
              </a:ext>
            </a:extLst>
          </p:cNvPr>
          <p:cNvSpPr/>
          <p:nvPr/>
        </p:nvSpPr>
        <p:spPr>
          <a:xfrm rot="-403778">
            <a:off x="5049125" y="398796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36AF3816-DF10-DA90-E51A-91109809EAA9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Cluster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E634B-083E-41DA-F172-119C0FC9D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9688"/>
            <a:ext cx="4245396" cy="23790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03BD39-ABD4-DB54-53EF-9278FC8F5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47" y="1299688"/>
            <a:ext cx="4471391" cy="2835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6D8746-7870-9F38-73D0-EFE9013E1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08" y="3850587"/>
            <a:ext cx="2241398" cy="11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86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239F571D-6418-9EBE-B79B-421D5E706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2D411C48-5B1C-C692-AD32-E1D90F6D5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SEGMENTATION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501B7EBA-2C3C-DE4F-3C30-76E74C7A0A80}"/>
              </a:ext>
            </a:extLst>
          </p:cNvPr>
          <p:cNvSpPr/>
          <p:nvPr/>
        </p:nvSpPr>
        <p:spPr>
          <a:xfrm rot="-403778">
            <a:off x="5049125" y="398796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0A4C9CF6-D7C8-0ED2-440A-B2A9D795E12F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RFM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656AB-078F-4B69-053A-C3392C70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298" y="2191157"/>
            <a:ext cx="3739634" cy="29523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A22C94-3DA1-4D68-1A26-72DF43A22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68" y="2175921"/>
            <a:ext cx="4721737" cy="2780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CE8B8C-75C9-409B-9983-5DFF8CD90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1205" y="820029"/>
            <a:ext cx="5621297" cy="123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3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>
          <a:extLst>
            <a:ext uri="{FF2B5EF4-FFF2-40B4-BE49-F238E27FC236}">
              <a16:creationId xmlns:a16="http://schemas.microsoft.com/office/drawing/2014/main" id="{EFC8DEBC-CA3F-DE0F-E1CB-C66584384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>
            <a:extLst>
              <a:ext uri="{FF2B5EF4-FFF2-40B4-BE49-F238E27FC236}">
                <a16:creationId xmlns:a16="http://schemas.microsoft.com/office/drawing/2014/main" id="{77D73C1B-486A-9812-DACE-9269DCADA7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71" r="1181"/>
          <a:stretch/>
        </p:blipFill>
        <p:spPr>
          <a:xfrm flipH="1">
            <a:off x="5838825" y="152400"/>
            <a:ext cx="3148025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>
            <a:extLst>
              <a:ext uri="{FF2B5EF4-FFF2-40B4-BE49-F238E27FC236}">
                <a16:creationId xmlns:a16="http://schemas.microsoft.com/office/drawing/2014/main" id="{EC44AD0C-2396-F78F-378F-8F013788D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2233" y="360060"/>
            <a:ext cx="3355500" cy="155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02" name="Google Shape;202;p32">
            <a:extLst>
              <a:ext uri="{FF2B5EF4-FFF2-40B4-BE49-F238E27FC236}">
                <a16:creationId xmlns:a16="http://schemas.microsoft.com/office/drawing/2014/main" id="{BD344B21-27BF-DE81-CFC6-42DCD94B7199}"/>
              </a:ext>
            </a:extLst>
          </p:cNvPr>
          <p:cNvSpPr/>
          <p:nvPr/>
        </p:nvSpPr>
        <p:spPr>
          <a:xfrm rot="-403563">
            <a:off x="3015856" y="544586"/>
            <a:ext cx="367694" cy="368463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2">
            <a:extLst>
              <a:ext uri="{FF2B5EF4-FFF2-40B4-BE49-F238E27FC236}">
                <a16:creationId xmlns:a16="http://schemas.microsoft.com/office/drawing/2014/main" id="{AD26837A-0535-7994-959D-5420D6E2F78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73135" y="1915560"/>
            <a:ext cx="5444815" cy="4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/>
              <a:t>PRICING &amp; PRODUCT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ANALYSIS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BBDD38-83AA-D210-4164-A58E30BB9EB2}"/>
              </a:ext>
            </a:extLst>
          </p:cNvPr>
          <p:cNvSpPr txBox="1"/>
          <p:nvPr/>
        </p:nvSpPr>
        <p:spPr>
          <a:xfrm>
            <a:off x="570194" y="3366106"/>
            <a:ext cx="334536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Pricing Impact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Performance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Pricing Strategy</a:t>
            </a:r>
          </a:p>
        </p:txBody>
      </p:sp>
    </p:spTree>
    <p:extLst>
      <p:ext uri="{BB962C8B-B14F-4D97-AF65-F5344CB8AC3E}">
        <p14:creationId xmlns:p14="http://schemas.microsoft.com/office/powerpoint/2010/main" val="607107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D4E29095-5EE2-5B36-5B41-E19C2FAF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F7544297-B6D5-850B-E599-AC20F4D976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PRICING &amp; PRODUCT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AC0B2880-3602-E45E-3714-0E48E091BE04}"/>
              </a:ext>
            </a:extLst>
          </p:cNvPr>
          <p:cNvSpPr/>
          <p:nvPr/>
        </p:nvSpPr>
        <p:spPr>
          <a:xfrm rot="-403778">
            <a:off x="6030432" y="426359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2B34D705-2B55-3074-4F50-BC9E377E3439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Pricing Impact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D7D13A-9F74-1C49-7D05-0C74D086B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2" y="1439256"/>
            <a:ext cx="4155960" cy="29097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4D943-0E8C-813A-B3F7-75C2C7614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278" y="1439256"/>
            <a:ext cx="4682430" cy="300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2387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BBD7E64C-98B2-CDB6-6739-05EAD80F2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326779A5-5B5F-5555-5B89-C36977C8B3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PRICING &amp; PRODUCT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E70258C5-D419-9A1F-2F85-F591647ED48F}"/>
              </a:ext>
            </a:extLst>
          </p:cNvPr>
          <p:cNvSpPr/>
          <p:nvPr/>
        </p:nvSpPr>
        <p:spPr>
          <a:xfrm rot="-403778">
            <a:off x="6030432" y="426359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671071BB-1C6A-6FAA-F763-D289A8455A79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Product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EEECC-D637-62CC-51D0-531EC0031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2" y="1795234"/>
            <a:ext cx="3659316" cy="18490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631F23-729C-6E19-C896-1C7A367AE2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674" y="1031819"/>
            <a:ext cx="5189034" cy="337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87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F56AFE32-8C9E-B7BA-3CEE-5910CC63D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1CB56B24-037A-67C7-A9DB-77E0709CDA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PRICING &amp; PRODUCT ANALYSIS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7F437332-D0C6-5517-E268-962FF2427762}"/>
              </a:ext>
            </a:extLst>
          </p:cNvPr>
          <p:cNvSpPr/>
          <p:nvPr/>
        </p:nvSpPr>
        <p:spPr>
          <a:xfrm rot="-403778">
            <a:off x="6030432" y="426359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34BB50AD-620C-45AF-ABD2-124ED6E45DA8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Pricing Strategy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C3D06-6B49-A709-4D13-0927AF377676}"/>
              </a:ext>
            </a:extLst>
          </p:cNvPr>
          <p:cNvSpPr txBox="1"/>
          <p:nvPr/>
        </p:nvSpPr>
        <p:spPr>
          <a:xfrm>
            <a:off x="360119" y="1299688"/>
            <a:ext cx="842376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1. Price-Sensitive Market (Bottom 25% performers):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b="1" dirty="0"/>
              <a:t>Discount strategy: </a:t>
            </a:r>
            <a:r>
              <a:rPr lang="en-US" dirty="0"/>
              <a:t>Apply discounts to make these products more appealing to customers. This can involve temporary price cuts or promotional offers like </a:t>
            </a:r>
            <a:r>
              <a:rPr lang="en-US" b="1" i="1" dirty="0"/>
              <a:t>BOGO (Buy One Get One)</a:t>
            </a:r>
            <a:r>
              <a:rPr lang="en-US" dirty="0"/>
              <a:t> or </a:t>
            </a:r>
            <a:r>
              <a:rPr lang="en-US" b="1" i="1" dirty="0"/>
              <a:t>limited-time discounts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b="1" dirty="0"/>
              <a:t>Phase-Out Strategy: </a:t>
            </a:r>
            <a:r>
              <a:rPr lang="en-US" dirty="0"/>
              <a:t>If these products consistently perform poorly, consider discontinuing or replacing them with better-performing items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2. Premium Market (Top 25% performers):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/>
              <a:t>-     </a:t>
            </a:r>
            <a:r>
              <a:rPr lang="en-US" b="1" dirty="0"/>
              <a:t>Premium Pricing: </a:t>
            </a:r>
            <a:r>
              <a:rPr lang="en-US" dirty="0"/>
              <a:t>Since these products are  doing well, we can experiment with </a:t>
            </a:r>
            <a:r>
              <a:rPr lang="en-US" b="1" i="1" dirty="0"/>
              <a:t>slight price increases</a:t>
            </a:r>
            <a:r>
              <a:rPr lang="en-US" dirty="0"/>
              <a:t> (if the market allows without losing customers).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b="1" dirty="0"/>
              <a:t>Inventory Expansion:</a:t>
            </a:r>
            <a:r>
              <a:rPr lang="en-US" dirty="0"/>
              <a:t> Increase the availability of these products in high-performing regions to meet demand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b="1" dirty="0"/>
              <a:t>Exclusive Offers: </a:t>
            </a:r>
            <a:r>
              <a:rPr lang="en-US" dirty="0"/>
              <a:t>Create exclusive bundles with accessories or related items to add value and increase perceived product quality</a:t>
            </a:r>
          </a:p>
        </p:txBody>
      </p:sp>
    </p:spTree>
    <p:extLst>
      <p:ext uri="{BB962C8B-B14F-4D97-AF65-F5344CB8AC3E}">
        <p14:creationId xmlns:p14="http://schemas.microsoft.com/office/powerpoint/2010/main" val="61843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0D05870-98A8-85E8-8F19-877E30BB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A464AD69-5DEE-3EA1-CC46-A38A8C9313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FORECASTING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222D2A08-E1BC-479A-3816-210087AB8AE1}"/>
              </a:ext>
            </a:extLst>
          </p:cNvPr>
          <p:cNvSpPr/>
          <p:nvPr/>
        </p:nvSpPr>
        <p:spPr>
          <a:xfrm rot="-403778">
            <a:off x="6030432" y="426359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147;p29">
            <a:extLst>
              <a:ext uri="{FF2B5EF4-FFF2-40B4-BE49-F238E27FC236}">
                <a16:creationId xmlns:a16="http://schemas.microsoft.com/office/drawing/2014/main" id="{BFB62974-30F5-5514-A20C-7F1B2A746B7F}"/>
              </a:ext>
            </a:extLst>
          </p:cNvPr>
          <p:cNvSpPr txBox="1">
            <a:spLocks/>
          </p:cNvSpPr>
          <p:nvPr/>
        </p:nvSpPr>
        <p:spPr>
          <a:xfrm>
            <a:off x="678252" y="726988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Black"/>
              <a:buNone/>
              <a:defRPr sz="24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sz="1800" b="1" dirty="0">
                <a:solidFill>
                  <a:srgbClr val="FFB711"/>
                </a:solidFill>
              </a:rPr>
              <a:t>Prophet Forecast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759F29-E0A2-4394-3527-6670975FE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32" y="1299688"/>
            <a:ext cx="7099610" cy="352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81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4BCBB75C-4C60-96DC-CFC9-A0797288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>
            <a:extLst>
              <a:ext uri="{FF2B5EF4-FFF2-40B4-BE49-F238E27FC236}">
                <a16:creationId xmlns:a16="http://schemas.microsoft.com/office/drawing/2014/main" id="{27452D5B-19C4-0D36-C736-511183F58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8501" y="31955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B711"/>
                </a:solidFill>
              </a:rPr>
              <a:t>SUMMARY</a:t>
            </a:r>
            <a:endParaRPr b="1" dirty="0">
              <a:solidFill>
                <a:srgbClr val="FFB711"/>
              </a:solidFill>
            </a:endParaRPr>
          </a:p>
        </p:txBody>
      </p:sp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A733819D-3B3A-5BA7-2F70-E89B7CD48688}"/>
              </a:ext>
            </a:extLst>
          </p:cNvPr>
          <p:cNvSpPr/>
          <p:nvPr/>
        </p:nvSpPr>
        <p:spPr>
          <a:xfrm rot="-403778">
            <a:off x="6030432" y="426359"/>
            <a:ext cx="152346" cy="152660"/>
          </a:xfrm>
          <a:custGeom>
            <a:avLst/>
            <a:gdLst/>
            <a:ahLst/>
            <a:cxnLst/>
            <a:rect l="l" t="t" r="r" b="b"/>
            <a:pathLst>
              <a:path w="8583" h="8602" extrusionOk="0">
                <a:moveTo>
                  <a:pt x="2200" y="0"/>
                </a:moveTo>
                <a:lnTo>
                  <a:pt x="492" y="1237"/>
                </a:lnTo>
                <a:lnTo>
                  <a:pt x="2691" y="3928"/>
                </a:lnTo>
                <a:lnTo>
                  <a:pt x="1" y="6147"/>
                </a:lnTo>
                <a:lnTo>
                  <a:pt x="1218" y="7855"/>
                </a:lnTo>
                <a:lnTo>
                  <a:pt x="4164" y="5656"/>
                </a:lnTo>
                <a:lnTo>
                  <a:pt x="6128" y="8602"/>
                </a:lnTo>
                <a:lnTo>
                  <a:pt x="7856" y="7129"/>
                </a:lnTo>
                <a:lnTo>
                  <a:pt x="5892" y="4419"/>
                </a:lnTo>
                <a:lnTo>
                  <a:pt x="8583" y="2219"/>
                </a:lnTo>
                <a:lnTo>
                  <a:pt x="7110" y="491"/>
                </a:lnTo>
                <a:lnTo>
                  <a:pt x="4419" y="2710"/>
                </a:lnTo>
                <a:lnTo>
                  <a:pt x="2200" y="0"/>
                </a:lnTo>
                <a:close/>
              </a:path>
            </a:pathLst>
          </a:custGeom>
          <a:solidFill>
            <a:srgbClr val="FFB71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7D67F1-FDB9-9A68-6EBC-528F431C4E8C}"/>
              </a:ext>
            </a:extLst>
          </p:cNvPr>
          <p:cNvSpPr txBox="1"/>
          <p:nvPr/>
        </p:nvSpPr>
        <p:spPr>
          <a:xfrm>
            <a:off x="360119" y="1346793"/>
            <a:ext cx="84237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Regional and product sales show significant variance.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r>
              <a:rPr lang="en-US" dirty="0"/>
              <a:t>Distinct customer clusters highlight diverse buying behaviors.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Tx/>
              <a:buChar char="-"/>
            </a:pPr>
            <a:endParaRPr lang="en-US"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/>
              <a:t>What Nike needs to do: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1" dirty="0"/>
              <a:t>Boost Premium Product Focus</a:t>
            </a:r>
            <a:r>
              <a:rPr lang="en-US" dirty="0"/>
              <a:t>: Expand inventory and introduce value-added bundles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1" dirty="0"/>
              <a:t>Revive Low Performers: </a:t>
            </a:r>
            <a:r>
              <a:rPr lang="en-US" dirty="0"/>
              <a:t>Apply targeted discounts or phase out poor sellers.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1" dirty="0"/>
              <a:t>Regional Focus: </a:t>
            </a:r>
            <a:r>
              <a:rPr lang="en-US" dirty="0"/>
              <a:t>Prioritize investment in high-performing regions.</a:t>
            </a:r>
          </a:p>
        </p:txBody>
      </p:sp>
    </p:spTree>
    <p:extLst>
      <p:ext uri="{BB962C8B-B14F-4D97-AF65-F5344CB8AC3E}">
        <p14:creationId xmlns:p14="http://schemas.microsoft.com/office/powerpoint/2010/main" val="59379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BADA-B622-5039-76B9-D109DD0F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B140CF-488C-85ED-BE4A-D632D1F55AD6}"/>
              </a:ext>
            </a:extLst>
          </p:cNvPr>
          <p:cNvSpPr/>
          <p:nvPr/>
        </p:nvSpPr>
        <p:spPr>
          <a:xfrm>
            <a:off x="2238035" y="2306576"/>
            <a:ext cx="4243388" cy="530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156"/>
              </a:lnSpc>
            </a:pPr>
            <a:r>
              <a:rPr lang="en-US" sz="8625" b="1" spc="-67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you!</a:t>
            </a:r>
            <a:endParaRPr lang="en-US" sz="8625" dirty="0"/>
          </a:p>
        </p:txBody>
      </p:sp>
      <p:pic>
        <p:nvPicPr>
          <p:cNvPr id="15" name="Picture 14" descr="Graduation cartoon bee">
            <a:extLst>
              <a:ext uri="{FF2B5EF4-FFF2-40B4-BE49-F238E27FC236}">
                <a16:creationId xmlns:a16="http://schemas.microsoft.com/office/drawing/2014/main" id="{8061FF9A-7CCB-E17C-19B5-53DD0D859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562998">
            <a:off x="571500" y="469930"/>
            <a:ext cx="1592716" cy="183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72993"/>
      </p:ext>
    </p:extLst>
  </p:cSld>
  <p:clrMapOvr>
    <a:masterClrMapping/>
  </p:clrMapOvr>
</p:sld>
</file>

<file path=ppt/theme/theme1.xml><?xml version="1.0" encoding="utf-8"?>
<a:theme xmlns:a="http://schemas.openxmlformats.org/drawingml/2006/main" name="Sneakers shop pitch deck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FB711"/>
      </a:lt2>
      <a:accent1>
        <a:srgbClr val="FFB711"/>
      </a:accent1>
      <a:accent2>
        <a:srgbClr val="212121"/>
      </a:accent2>
      <a:accent3>
        <a:srgbClr val="212121"/>
      </a:accent3>
      <a:accent4>
        <a:srgbClr val="F3F3F3"/>
      </a:accent4>
      <a:accent5>
        <a:srgbClr val="D9D9D9"/>
      </a:accent5>
      <a:accent6>
        <a:srgbClr val="FFB71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2711</Words>
  <Application>Microsoft Office PowerPoint</Application>
  <PresentationFormat>On-screen Show (16:9)</PresentationFormat>
  <Paragraphs>318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Petrona Bold</vt:lpstr>
      <vt:lpstr>Montserrat ExtraBold</vt:lpstr>
      <vt:lpstr>Muli</vt:lpstr>
      <vt:lpstr>Nanum Gothic</vt:lpstr>
      <vt:lpstr>Poppins ExtraBold</vt:lpstr>
      <vt:lpstr>Wingdings</vt:lpstr>
      <vt:lpstr>Open Sans</vt:lpstr>
      <vt:lpstr>Symbol</vt:lpstr>
      <vt:lpstr>Arial</vt:lpstr>
      <vt:lpstr>Sneakers shop pitch deck</vt:lpstr>
      <vt:lpstr>NIKE MARKET EXPLORER</vt:lpstr>
      <vt:lpstr>PROJECT OUTLINE</vt:lpstr>
      <vt:lpstr>01</vt:lpstr>
      <vt:lpstr>DATA PREPARATION</vt:lpstr>
      <vt:lpstr>DATA PREPARATION</vt:lpstr>
      <vt:lpstr>DATA PREPARATION</vt:lpstr>
      <vt:lpstr>DATA PREPARATION</vt:lpstr>
      <vt:lpstr>02</vt:lpstr>
      <vt:lpstr>DATA EXPLORATORY ANALYSIS</vt:lpstr>
      <vt:lpstr>EXPLORE DATA</vt:lpstr>
      <vt:lpstr>EXPLORE DATA</vt:lpstr>
      <vt:lpstr>EXPLORE DATA</vt:lpstr>
      <vt:lpstr>EXPLORE DATA</vt:lpstr>
      <vt:lpstr>EXPLORE DATA</vt:lpstr>
      <vt:lpstr>EXPLORE DATA</vt:lpstr>
      <vt:lpstr>03</vt:lpstr>
      <vt:lpstr>REGIONAL ANALYSIS</vt:lpstr>
      <vt:lpstr>REGIONAL ANALYSIS</vt:lpstr>
      <vt:lpstr>REGIONAL ANALYSIS</vt:lpstr>
      <vt:lpstr>REGIONAL ANALYSIS</vt:lpstr>
      <vt:lpstr>REGIONAL ANALYSIS</vt:lpstr>
      <vt:lpstr>04</vt:lpstr>
      <vt:lpstr>SEGMENTATION ANALYSIS</vt:lpstr>
      <vt:lpstr>SEGMENTATION ANALYSIS</vt:lpstr>
      <vt:lpstr>05</vt:lpstr>
      <vt:lpstr>PRICING &amp; PRODUCT ANALYSIS</vt:lpstr>
      <vt:lpstr>PRICING &amp; PRODUCT ANALYSIS</vt:lpstr>
      <vt:lpstr>PRICING &amp; PRODUCT ANALYSIS</vt:lpstr>
      <vt:lpstr>FORECASTING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Phuong Tran</dc:creator>
  <cp:lastModifiedBy>Tran Bao Diem Phuong</cp:lastModifiedBy>
  <cp:revision>204</cp:revision>
  <dcterms:modified xsi:type="dcterms:W3CDTF">2025-11-22T00:45:42Z</dcterms:modified>
</cp:coreProperties>
</file>